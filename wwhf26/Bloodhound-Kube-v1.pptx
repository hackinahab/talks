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C38A5E6-7D2B-4CDC-89EB-34A97D2B1A5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F713BE-4942-48D5-A070-E228A7F8B4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19BDE0-AD8A-4C6E-9E83-A470697F98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1F83DF6-387D-4CC7-AE8F-1513DA2F19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C76E58E-EC50-40C4-92A1-A60D2FF844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A0E891-7CF8-4201-8359-517D893666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case of the demo gods striking me down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2FB848-5814-4F3E-AADA-9E2DC6E85C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D1F07DF-021E-479A-AA1A-3A45059031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781654-CF05-4886-B4B9-4CF6CBBD4F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6360EA-95E7-46EF-B5D7-54F0DEE507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HK_MASTER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1pPr>
            <a:lvl2pPr lvl="1" algn="l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2pPr>
            <a:lvl3pPr lvl="2" algn="l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3pPr>
            <a:lvl4pPr lvl="3" algn="l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4pPr>
            <a:lvl5pPr lvl="4" algn="l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spectral_hound_cybersecurity_network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Rectangle 2"/>
          <p:cNvSpPr/>
          <p:nvPr/>
        </p:nvSpPr>
        <p:spPr>
          <a:xfrm>
            <a:off x="0" y="0"/>
            <a:ext cx="5607360" cy="6856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12" name="TextBox 3"/>
          <p:cNvSpPr/>
          <p:nvPr/>
        </p:nvSpPr>
        <p:spPr>
          <a:xfrm>
            <a:off x="411480" y="3291840"/>
            <a:ext cx="29343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BloodHound-</a:t>
            </a:r>
            <a:r>
              <a:rPr lang="en-US" sz="2600" b="1" u="none" strike="noStrike">
                <a:solidFill>
                  <a:srgbClr val="FF3B3B"/>
                </a:solidFill>
                <a:effectLst/>
                <a:uFillTx/>
                <a:latin typeface="IBM Plex Sans"/>
              </a:rPr>
              <a:t>Kube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Box 5"/>
          <p:cNvSpPr/>
          <p:nvPr/>
        </p:nvSpPr>
        <p:spPr>
          <a:xfrm>
            <a:off x="411480" y="3776760"/>
            <a:ext cx="4206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E6E6E6"/>
                </a:solidFill>
                <a:effectLst/>
                <a:uFillTx/>
                <a:latin typeface="IBM Plex Sans"/>
              </a:rPr>
              <a:t>Kubernetes Attack Path Analysis with BloodHound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Box 6"/>
          <p:cNvSpPr/>
          <p:nvPr/>
        </p:nvSpPr>
        <p:spPr>
          <a:xfrm>
            <a:off x="309960" y="6355080"/>
            <a:ext cx="686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A0A0A0"/>
                </a:solidFill>
                <a:effectLst/>
                <a:uFillTx/>
                <a:latin typeface="IBM Plex Sans"/>
              </a:rPr>
              <a:t>Don Cowan   |   https://github.com/HackinAhab/bloodhound-kube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Rectangle 8"/>
          <p:cNvSpPr/>
          <p:nvPr/>
        </p:nvSpPr>
        <p:spPr>
          <a:xfrm>
            <a:off x="457560" y="4114440"/>
            <a:ext cx="2284920" cy="1152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"/>
          <p:cNvSpPr/>
          <p:nvPr/>
        </p:nvSpPr>
        <p:spPr>
          <a:xfrm>
            <a:off x="18360" y="18360"/>
            <a:ext cx="12153960" cy="682020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8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9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2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3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4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5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6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7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8"/>
          <p:cNvSpPr/>
          <p:nvPr/>
        </p:nvSpPr>
        <p:spPr>
          <a:xfrm>
            <a:off x="6949440" y="57607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255960" y="6455520"/>
            <a:ext cx="4104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/>
          <p:cNvSpPr/>
          <p:nvPr/>
        </p:nvSpPr>
        <p:spPr>
          <a:xfrm>
            <a:off x="576000" y="384120"/>
            <a:ext cx="7131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~# whoami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2"/>
          <p:cNvSpPr/>
          <p:nvPr/>
        </p:nvSpPr>
        <p:spPr>
          <a:xfrm>
            <a:off x="576000" y="932400"/>
            <a:ext cx="914400" cy="360"/>
          </a:xfrm>
          <a:prstGeom prst="line">
            <a:avLst/>
          </a:prstGeom>
          <a:ln w="279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4"/>
          <p:cNvSpPr/>
          <p:nvPr/>
        </p:nvSpPr>
        <p:spPr>
          <a:xfrm>
            <a:off x="649800" y="1435680"/>
            <a:ext cx="1634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5"/>
          <p:cNvSpPr/>
          <p:nvPr/>
        </p:nvSpPr>
        <p:spPr>
          <a:xfrm>
            <a:off x="555840" y="1024200"/>
            <a:ext cx="773964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0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pentester | homelab nerd | semi-professional debugger</a:t>
            </a:r>
            <a:r>
              <a:rPr lang="en-US" sz="20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 </a:t>
            </a:r>
            <a:r>
              <a:rPr lang="en-US" sz="20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of skill issues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685800" y="3218760"/>
            <a:ext cx="1634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Picture 40"/>
          <p:cNvPicPr/>
          <p:nvPr/>
        </p:nvPicPr>
        <p:blipFill>
          <a:blip r:embed="rId1"/>
          <a:stretch/>
        </p:blipFill>
        <p:spPr>
          <a:xfrm rot="4200">
            <a:off x="8400600" y="968760"/>
            <a:ext cx="3194280" cy="47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Box 41"/>
          <p:cNvSpPr/>
          <p:nvPr/>
        </p:nvSpPr>
        <p:spPr>
          <a:xfrm>
            <a:off x="510840" y="2143080"/>
            <a:ext cx="4822560" cy="23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Arial"/>
              </a:rPr>
              <a:t>Don Cowan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Arial"/>
              </a:rPr>
              <a:t>@HackinAhab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Arial"/>
              </a:rPr>
              <a:t>https://ahab.dev/card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Picture 42"/>
          <p:cNvPicPr/>
          <p:nvPr/>
        </p:nvPicPr>
        <p:blipFill>
          <a:blip r:embed="rId2"/>
          <a:stretch/>
        </p:blipFill>
        <p:spPr>
          <a:xfrm>
            <a:off x="627840" y="3495960"/>
            <a:ext cx="2991240" cy="2991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20"/>
          <p:cNvSpPr/>
          <p:nvPr/>
        </p:nvSpPr>
        <p:spPr>
          <a:xfrm>
            <a:off x="18360" y="18360"/>
            <a:ext cx="12153960" cy="682020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1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3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8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0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47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48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9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50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51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52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53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54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5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56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57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58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9"/>
          <p:cNvSpPr/>
          <p:nvPr/>
        </p:nvSpPr>
        <p:spPr>
          <a:xfrm>
            <a:off x="3200400" y="1600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255960" y="6455520"/>
            <a:ext cx="4104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576000" y="384120"/>
            <a:ext cx="7131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Kubernetes relationship problems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576000" y="932400"/>
            <a:ext cx="914400" cy="360"/>
          </a:xfrm>
          <a:prstGeom prst="line">
            <a:avLst/>
          </a:prstGeom>
          <a:ln w="279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1627560" y="794520"/>
            <a:ext cx="89600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685800" y="1435680"/>
            <a:ext cx="1634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280080" y="1367280"/>
            <a:ext cx="11606760" cy="49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 </a:t>
            </a:r>
            <a:r>
              <a:rPr lang="en-US" sz="2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A Kubernetes cluster is not just one permission system, it is many relationships stacked together.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 </a:t>
            </a:r>
            <a:r>
              <a:rPr lang="en-US" sz="2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RBAC, service accounts, workloads, secrets, and namespaces interact in non-obvious ways.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 </a:t>
            </a:r>
            <a:r>
              <a:rPr lang="en-US" sz="2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IBM Plex Sans"/>
              </a:rPr>
              <a:t>A single permission often looks harmless until it is chained with workload behavior.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kubectl and raw YAML don’t</a:t>
            </a:r>
            <a:r>
              <a:rPr lang="en-US" sz="2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 show multi-step reachability at scale.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Penetration tests need fast answers to “what can this principal become?”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914400" y="2606040"/>
            <a:ext cx="484524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914400" y="3200400"/>
            <a:ext cx="484524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-18360" y="18360"/>
            <a:ext cx="12190680" cy="685692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18360" y="18360"/>
            <a:ext cx="12153960" cy="682020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9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1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3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4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5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8"/>
          <p:cNvSpPr/>
          <p:nvPr/>
        </p:nvSpPr>
        <p:spPr>
          <a:xfrm>
            <a:off x="6949440" y="57607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9"/>
          <p:cNvSpPr/>
          <p:nvPr/>
        </p:nvSpPr>
        <p:spPr>
          <a:xfrm>
            <a:off x="255960" y="6455520"/>
            <a:ext cx="4104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1"/>
          <p:cNvSpPr/>
          <p:nvPr/>
        </p:nvSpPr>
        <p:spPr>
          <a:xfrm>
            <a:off x="576000" y="384120"/>
            <a:ext cx="7131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What is BloodHound-Kube?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2"/>
          <p:cNvSpPr/>
          <p:nvPr/>
        </p:nvSpPr>
        <p:spPr>
          <a:xfrm>
            <a:off x="576000" y="932400"/>
            <a:ext cx="914400" cy="360"/>
          </a:xfrm>
          <a:prstGeom prst="line">
            <a:avLst/>
          </a:prstGeom>
          <a:ln w="279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4"/>
          <p:cNvSpPr/>
          <p:nvPr/>
        </p:nvSpPr>
        <p:spPr>
          <a:xfrm>
            <a:off x="1280160" y="1508760"/>
            <a:ext cx="529200" cy="52920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5"/>
          <p:cNvSpPr/>
          <p:nvPr/>
        </p:nvSpPr>
        <p:spPr>
          <a:xfrm>
            <a:off x="713160" y="2258640"/>
            <a:ext cx="1663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Collect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6"/>
          <p:cNvSpPr/>
          <p:nvPr/>
        </p:nvSpPr>
        <p:spPr>
          <a:xfrm>
            <a:off x="713160" y="2633400"/>
            <a:ext cx="1751760" cy="11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A6AAB0"/>
                </a:solidFill>
                <a:effectLst/>
                <a:uFillTx/>
                <a:latin typeface="IBM Plex Sans"/>
                <a:ea typeface="Aptos"/>
              </a:rPr>
              <a:t>Gather Kubernetes objects via API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7"/>
          <p:cNvSpPr/>
          <p:nvPr/>
        </p:nvSpPr>
        <p:spPr>
          <a:xfrm>
            <a:off x="2404800" y="1773720"/>
            <a:ext cx="941760" cy="360"/>
          </a:xfrm>
          <a:prstGeom prst="line">
            <a:avLst/>
          </a:prstGeom>
          <a:ln w="15240">
            <a:solidFill>
              <a:srgbClr val="555A6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8"/>
          <p:cNvSpPr/>
          <p:nvPr/>
        </p:nvSpPr>
        <p:spPr>
          <a:xfrm>
            <a:off x="4060080" y="1508760"/>
            <a:ext cx="529200" cy="52920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9"/>
          <p:cNvSpPr/>
          <p:nvPr/>
        </p:nvSpPr>
        <p:spPr>
          <a:xfrm>
            <a:off x="3493080" y="2258640"/>
            <a:ext cx="1663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Parse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0"/>
          <p:cNvSpPr/>
          <p:nvPr/>
        </p:nvSpPr>
        <p:spPr>
          <a:xfrm>
            <a:off x="3221640" y="2633400"/>
            <a:ext cx="2266200" cy="12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A6AAB0"/>
                </a:solidFill>
                <a:effectLst/>
                <a:uFillTx/>
                <a:latin typeface="IBM Plex Sans"/>
                <a:ea typeface="Aptos"/>
              </a:rPr>
              <a:t>Build nodes, edges, and properties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1"/>
          <p:cNvSpPr/>
          <p:nvPr/>
        </p:nvSpPr>
        <p:spPr>
          <a:xfrm>
            <a:off x="5184360" y="1773720"/>
            <a:ext cx="942120" cy="360"/>
          </a:xfrm>
          <a:prstGeom prst="line">
            <a:avLst/>
          </a:prstGeom>
          <a:ln w="15240">
            <a:solidFill>
              <a:srgbClr val="555A6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2"/>
          <p:cNvSpPr/>
          <p:nvPr/>
        </p:nvSpPr>
        <p:spPr>
          <a:xfrm>
            <a:off x="6839640" y="1508760"/>
            <a:ext cx="529200" cy="52920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3"/>
          <p:cNvSpPr/>
          <p:nvPr/>
        </p:nvSpPr>
        <p:spPr>
          <a:xfrm>
            <a:off x="6272640" y="2258640"/>
            <a:ext cx="1663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Output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4"/>
          <p:cNvSpPr/>
          <p:nvPr/>
        </p:nvSpPr>
        <p:spPr>
          <a:xfrm>
            <a:off x="6073560" y="2599920"/>
            <a:ext cx="2016720" cy="15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A6AAB0"/>
                </a:solidFill>
                <a:effectLst/>
                <a:uFillTx/>
                <a:latin typeface="IBM Plex Sans"/>
                <a:ea typeface="Aptos"/>
              </a:rPr>
              <a:t>Generate BloodHound OpenGraph JSON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5"/>
          <p:cNvSpPr/>
          <p:nvPr/>
        </p:nvSpPr>
        <p:spPr>
          <a:xfrm>
            <a:off x="7964280" y="1773720"/>
            <a:ext cx="941760" cy="360"/>
          </a:xfrm>
          <a:prstGeom prst="line">
            <a:avLst/>
          </a:prstGeom>
          <a:ln w="25400">
            <a:solidFill>
              <a:srgbClr val="E5393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6"/>
          <p:cNvSpPr/>
          <p:nvPr/>
        </p:nvSpPr>
        <p:spPr>
          <a:xfrm>
            <a:off x="9619560" y="1508760"/>
            <a:ext cx="529200" cy="529200"/>
          </a:xfrm>
          <a:prstGeom prst="ellipse">
            <a:avLst/>
          </a:prstGeom>
          <a:solidFill>
            <a:srgbClr val="3A1111"/>
          </a:solidFill>
          <a:ln w="152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4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7"/>
          <p:cNvSpPr/>
          <p:nvPr/>
        </p:nvSpPr>
        <p:spPr>
          <a:xfrm>
            <a:off x="9052560" y="2258640"/>
            <a:ext cx="1663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Explore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8"/>
          <p:cNvSpPr/>
          <p:nvPr/>
        </p:nvSpPr>
        <p:spPr>
          <a:xfrm>
            <a:off x="9052560" y="2633400"/>
            <a:ext cx="1659600" cy="14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A6AAB0"/>
                </a:solidFill>
                <a:effectLst/>
                <a:uFillTx/>
                <a:latin typeface="IBM Plex Sans"/>
                <a:ea typeface="Aptos"/>
              </a:rPr>
              <a:t>Import and investigate paths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9"/>
          <p:cNvSpPr/>
          <p:nvPr/>
        </p:nvSpPr>
        <p:spPr>
          <a:xfrm>
            <a:off x="777240" y="4224600"/>
            <a:ext cx="10624320" cy="1187640"/>
          </a:xfrm>
          <a:prstGeom prst="roundRect">
            <a:avLst>
              <a:gd name="adj" fmla="val 4615"/>
            </a:avLst>
          </a:prstGeom>
          <a:solidFill>
            <a:srgbClr val="070809"/>
          </a:solidFill>
          <a:ln w="12700">
            <a:solidFill>
              <a:srgbClr val="555A60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0"/>
          <p:cNvSpPr/>
          <p:nvPr/>
        </p:nvSpPr>
        <p:spPr>
          <a:xfrm>
            <a:off x="887040" y="4334400"/>
            <a:ext cx="104047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# collect and parse using current kubeconfig/context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1"/>
          <p:cNvSpPr/>
          <p:nvPr/>
        </p:nvSpPr>
        <p:spPr>
          <a:xfrm>
            <a:off x="887040" y="4531680"/>
            <a:ext cx="104047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./bloodhound-kube collect --scope all --cluster demo --parsed-output demo.json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2"/>
          <p:cNvSpPr/>
          <p:nvPr/>
        </p:nvSpPr>
        <p:spPr>
          <a:xfrm>
            <a:off x="887040" y="4729320"/>
            <a:ext cx="104047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47500" lnSpcReduction="19999"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110" name="Text 43"/>
          <p:cNvSpPr/>
          <p:nvPr/>
        </p:nvSpPr>
        <p:spPr>
          <a:xfrm>
            <a:off x="887040" y="4926960"/>
            <a:ext cx="104047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# optional: redact Secret data values while preserving key names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4"/>
          <p:cNvSpPr/>
          <p:nvPr/>
        </p:nvSpPr>
        <p:spPr>
          <a:xfrm>
            <a:off x="887040" y="5124240"/>
            <a:ext cx="104047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./bloodhound-kube collect --redacted --zip --output demo.jsonl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18360" y="18360"/>
            <a:ext cx="12153960" cy="682020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5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6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8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0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1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2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3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4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5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6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7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8"/>
          <p:cNvSpPr/>
          <p:nvPr/>
        </p:nvSpPr>
        <p:spPr>
          <a:xfrm>
            <a:off x="6949440" y="57607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9"/>
          <p:cNvSpPr/>
          <p:nvPr/>
        </p:nvSpPr>
        <p:spPr>
          <a:xfrm>
            <a:off x="255960" y="6455520"/>
            <a:ext cx="4104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1"/>
          <p:cNvSpPr/>
          <p:nvPr/>
        </p:nvSpPr>
        <p:spPr>
          <a:xfrm>
            <a:off x="576000" y="384120"/>
            <a:ext cx="7131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Demo time!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2"/>
          <p:cNvSpPr/>
          <p:nvPr/>
        </p:nvSpPr>
        <p:spPr>
          <a:xfrm>
            <a:off x="576000" y="932400"/>
            <a:ext cx="914400" cy="360"/>
          </a:xfrm>
          <a:prstGeom prst="line">
            <a:avLst/>
          </a:prstGeom>
          <a:ln w="279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4"/>
          <p:cNvSpPr/>
          <p:nvPr/>
        </p:nvSpPr>
        <p:spPr>
          <a:xfrm>
            <a:off x="850320" y="1325880"/>
            <a:ext cx="392040" cy="39204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5"/>
          <p:cNvSpPr/>
          <p:nvPr/>
        </p:nvSpPr>
        <p:spPr>
          <a:xfrm>
            <a:off x="1463040" y="1316880"/>
            <a:ext cx="3976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Build the binary.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6"/>
          <p:cNvSpPr/>
          <p:nvPr/>
        </p:nvSpPr>
        <p:spPr>
          <a:xfrm>
            <a:off x="850320" y="2075760"/>
            <a:ext cx="392040" cy="39204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7"/>
          <p:cNvSpPr/>
          <p:nvPr/>
        </p:nvSpPr>
        <p:spPr>
          <a:xfrm>
            <a:off x="1463040" y="2066400"/>
            <a:ext cx="3976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Run collection against the demo contexts.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8"/>
          <p:cNvSpPr/>
          <p:nvPr/>
        </p:nvSpPr>
        <p:spPr>
          <a:xfrm>
            <a:off x="850320" y="2825640"/>
            <a:ext cx="392040" cy="39204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9"/>
          <p:cNvSpPr/>
          <p:nvPr/>
        </p:nvSpPr>
        <p:spPr>
          <a:xfrm>
            <a:off x="1463040" y="2816280"/>
            <a:ext cx="3976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Upload or import the OpenGraph data.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0"/>
          <p:cNvSpPr/>
          <p:nvPr/>
        </p:nvSpPr>
        <p:spPr>
          <a:xfrm>
            <a:off x="850320" y="3575160"/>
            <a:ext cx="392040" cy="392040"/>
          </a:xfrm>
          <a:prstGeom prst="ellipse">
            <a:avLst/>
          </a:prstGeom>
          <a:solidFill>
            <a:srgbClr val="3A1111"/>
          </a:solidFill>
          <a:ln w="152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1"/>
          <p:cNvSpPr/>
          <p:nvPr/>
        </p:nvSpPr>
        <p:spPr>
          <a:xfrm>
            <a:off x="1463040" y="3566160"/>
            <a:ext cx="3976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Run prepared Kubernetes path queries.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2"/>
          <p:cNvSpPr/>
          <p:nvPr/>
        </p:nvSpPr>
        <p:spPr>
          <a:xfrm>
            <a:off x="850320" y="4325040"/>
            <a:ext cx="392040" cy="392040"/>
          </a:xfrm>
          <a:prstGeom prst="ellipse">
            <a:avLst/>
          </a:prstGeom>
          <a:solidFill>
            <a:srgbClr val="3A1111"/>
          </a:solidFill>
          <a:ln w="152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3"/>
          <p:cNvSpPr/>
          <p:nvPr/>
        </p:nvSpPr>
        <p:spPr>
          <a:xfrm>
            <a:off x="1463040" y="4316040"/>
            <a:ext cx="3976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Explain paths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4"/>
          <p:cNvSpPr/>
          <p:nvPr/>
        </p:nvSpPr>
        <p:spPr>
          <a:xfrm>
            <a:off x="6126480" y="1280160"/>
            <a:ext cx="5165280" cy="4692240"/>
          </a:xfrm>
          <a:prstGeom prst="roundRect">
            <a:avLst>
              <a:gd name="adj" fmla="val 1967"/>
            </a:avLst>
          </a:prstGeom>
          <a:solidFill>
            <a:srgbClr val="070809"/>
          </a:solidFill>
          <a:ln w="12700">
            <a:solidFill>
              <a:srgbClr val="555A60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5"/>
          <p:cNvSpPr/>
          <p:nvPr/>
        </p:nvSpPr>
        <p:spPr>
          <a:xfrm>
            <a:off x="6236280" y="1389960"/>
            <a:ext cx="49456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# baseline check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6"/>
          <p:cNvSpPr/>
          <p:nvPr/>
        </p:nvSpPr>
        <p:spPr>
          <a:xfrm>
            <a:off x="6236280" y="1785240"/>
            <a:ext cx="494568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go build -trimpath -ldflags "-s -w" -o bhk 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7"/>
          <p:cNvSpPr/>
          <p:nvPr/>
        </p:nvSpPr>
        <p:spPr>
          <a:xfrm>
            <a:off x="6236280" y="2036880"/>
            <a:ext cx="49456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endParaRPr lang="en-US" sz="92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148" name="Text 38"/>
          <p:cNvSpPr/>
          <p:nvPr/>
        </p:nvSpPr>
        <p:spPr>
          <a:xfrm>
            <a:off x="6236280" y="2360160"/>
            <a:ext cx="49456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# collect + parse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9"/>
          <p:cNvSpPr/>
          <p:nvPr/>
        </p:nvSpPr>
        <p:spPr>
          <a:xfrm>
            <a:off x="6236280" y="2683800"/>
            <a:ext cx="494568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./bloodhound-kube collect --cluster live-demo --redacted --parsed-output live-demo.json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0"/>
          <p:cNvSpPr/>
          <p:nvPr/>
        </p:nvSpPr>
        <p:spPr>
          <a:xfrm>
            <a:off x="6236280" y="3007080"/>
            <a:ext cx="49456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endParaRPr lang="en-US" sz="92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151" name="Text 41"/>
          <p:cNvSpPr/>
          <p:nvPr/>
        </p:nvSpPr>
        <p:spPr>
          <a:xfrm>
            <a:off x="6236280" y="3330720"/>
            <a:ext cx="49456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# upload graph data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2"/>
          <p:cNvSpPr/>
          <p:nvPr/>
        </p:nvSpPr>
        <p:spPr>
          <a:xfrm>
            <a:off x="6236280" y="3654000"/>
            <a:ext cx="4945680" cy="5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./bloodhound-kube upload --upload-file live-demo.json --token-id $BLOODHOUND_TOKEN_ID --token-key $BLOODHOUND_TOKEN_KEY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24"/>
          <p:cNvSpPr/>
          <p:nvPr/>
        </p:nvSpPr>
        <p:spPr>
          <a:xfrm>
            <a:off x="0" y="-11160"/>
            <a:ext cx="12190680" cy="685692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5"/>
          <p:cNvSpPr/>
          <p:nvPr/>
        </p:nvSpPr>
        <p:spPr>
          <a:xfrm>
            <a:off x="18360" y="18360"/>
            <a:ext cx="12153960" cy="682020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3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6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7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8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0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41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80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81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82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83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84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85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86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87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88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89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90"/>
          <p:cNvSpPr/>
          <p:nvPr/>
        </p:nvSpPr>
        <p:spPr>
          <a:xfrm>
            <a:off x="6949440" y="57607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255960" y="6455520"/>
            <a:ext cx="4104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576000" y="384120"/>
            <a:ext cx="7131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Demo Video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91"/>
          <p:cNvSpPr/>
          <p:nvPr/>
        </p:nvSpPr>
        <p:spPr>
          <a:xfrm>
            <a:off x="576000" y="932400"/>
            <a:ext cx="914400" cy="360"/>
          </a:xfrm>
          <a:prstGeom prst="line">
            <a:avLst/>
          </a:prstGeom>
          <a:ln w="279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"/>
          <p:cNvSpPr/>
          <p:nvPr/>
        </p:nvSpPr>
        <p:spPr>
          <a:xfrm>
            <a:off x="18360" y="18360"/>
            <a:ext cx="12153960" cy="682020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4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5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6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7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8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9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0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1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2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3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4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5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6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7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8"/>
          <p:cNvSpPr/>
          <p:nvPr/>
        </p:nvSpPr>
        <p:spPr>
          <a:xfrm>
            <a:off x="6949440" y="57607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9"/>
          <p:cNvSpPr/>
          <p:nvPr/>
        </p:nvSpPr>
        <p:spPr>
          <a:xfrm>
            <a:off x="255960" y="6455520"/>
            <a:ext cx="4104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1"/>
          <p:cNvSpPr/>
          <p:nvPr/>
        </p:nvSpPr>
        <p:spPr>
          <a:xfrm>
            <a:off x="576000" y="384120"/>
            <a:ext cx="7131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How to Interpret the Graph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2"/>
          <p:cNvSpPr/>
          <p:nvPr/>
        </p:nvSpPr>
        <p:spPr>
          <a:xfrm>
            <a:off x="576000" y="932400"/>
            <a:ext cx="914400" cy="360"/>
          </a:xfrm>
          <a:prstGeom prst="line">
            <a:avLst/>
          </a:prstGeom>
          <a:ln w="279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4"/>
          <p:cNvSpPr/>
          <p:nvPr/>
        </p:nvSpPr>
        <p:spPr>
          <a:xfrm>
            <a:off x="822960" y="1505160"/>
            <a:ext cx="4708080" cy="401400"/>
          </a:xfrm>
          <a:prstGeom prst="rect">
            <a:avLst/>
          </a:prstGeom>
          <a:solidFill>
            <a:srgbClr val="17191C"/>
          </a:solidFill>
          <a:ln w="12700">
            <a:solidFill>
              <a:srgbClr val="555A60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 What the graph can tell you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6"/>
          <p:cNvSpPr/>
          <p:nvPr/>
        </p:nvSpPr>
        <p:spPr>
          <a:xfrm>
            <a:off x="795600" y="1965960"/>
            <a:ext cx="4717440" cy="443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Which objects are connected by relationships.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Which paths are the most straightforward.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Which misconfiguration is most relevant to the path.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Which relationship is likely to lead to an objective.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8"/>
          <p:cNvSpPr/>
          <p:nvPr/>
        </p:nvSpPr>
        <p:spPr>
          <a:xfrm>
            <a:off x="1188720" y="2464200"/>
            <a:ext cx="415944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0"/>
          <p:cNvSpPr/>
          <p:nvPr/>
        </p:nvSpPr>
        <p:spPr>
          <a:xfrm>
            <a:off x="1188720" y="2962800"/>
            <a:ext cx="415944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2"/>
          <p:cNvSpPr/>
          <p:nvPr/>
        </p:nvSpPr>
        <p:spPr>
          <a:xfrm>
            <a:off x="1188720" y="3461040"/>
            <a:ext cx="415944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3"/>
          <p:cNvSpPr/>
          <p:nvPr/>
        </p:nvSpPr>
        <p:spPr>
          <a:xfrm>
            <a:off x="6446520" y="1494000"/>
            <a:ext cx="4708080" cy="401400"/>
          </a:xfrm>
          <a:prstGeom prst="rect">
            <a:avLst/>
          </a:prstGeom>
          <a:solidFill>
            <a:srgbClr val="3A1111"/>
          </a:solidFill>
          <a:ln w="12700">
            <a:solidFill>
              <a:srgbClr val="E53935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 What still requires tester validation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5"/>
          <p:cNvSpPr/>
          <p:nvPr/>
        </p:nvSpPr>
        <p:spPr>
          <a:xfrm>
            <a:off x="6421320" y="1965960"/>
            <a:ext cx="5176440" cy="44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Whether the path is exploitable in the specific environment.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Whether compensating controls block the chain.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Whether captured credentials are valid and in scope.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Whether the path creates meaningful business impact.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9"/>
          <p:cNvSpPr/>
          <p:nvPr/>
        </p:nvSpPr>
        <p:spPr>
          <a:xfrm>
            <a:off x="6812280" y="2962800"/>
            <a:ext cx="415944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1"/>
          <p:cNvSpPr/>
          <p:nvPr/>
        </p:nvSpPr>
        <p:spPr>
          <a:xfrm>
            <a:off x="6812280" y="3461040"/>
            <a:ext cx="415944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"/>
          <p:cNvSpPr/>
          <p:nvPr/>
        </p:nvSpPr>
        <p:spPr>
          <a:xfrm>
            <a:off x="18360" y="18360"/>
            <a:ext cx="12153960" cy="682020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4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5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6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7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9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0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1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2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3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4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5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6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7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8"/>
          <p:cNvSpPr/>
          <p:nvPr/>
        </p:nvSpPr>
        <p:spPr>
          <a:xfrm>
            <a:off x="6949440" y="57607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9"/>
          <p:cNvSpPr/>
          <p:nvPr/>
        </p:nvSpPr>
        <p:spPr>
          <a:xfrm>
            <a:off x="255960" y="6455520"/>
            <a:ext cx="4104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1"/>
          <p:cNvSpPr/>
          <p:nvPr/>
        </p:nvSpPr>
        <p:spPr>
          <a:xfrm>
            <a:off x="749880" y="1143000"/>
            <a:ext cx="3656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Questions?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2"/>
          <p:cNvSpPr/>
          <p:nvPr/>
        </p:nvSpPr>
        <p:spPr>
          <a:xfrm>
            <a:off x="822960" y="2148840"/>
            <a:ext cx="364680" cy="36468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1417320" y="2148840"/>
            <a:ext cx="57596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Kubernetes authorization is a graph problem.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4"/>
          <p:cNvSpPr/>
          <p:nvPr/>
        </p:nvSpPr>
        <p:spPr>
          <a:xfrm>
            <a:off x="822960" y="2807280"/>
            <a:ext cx="364680" cy="364680"/>
          </a:xfrm>
          <a:prstGeom prst="ellipse">
            <a:avLst/>
          </a:prstGeom>
          <a:solidFill>
            <a:srgbClr val="3A1111"/>
          </a:solidFill>
          <a:ln w="152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5"/>
          <p:cNvSpPr/>
          <p:nvPr/>
        </p:nvSpPr>
        <p:spPr>
          <a:xfrm>
            <a:off x="1417320" y="2653920"/>
            <a:ext cx="594360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BloodHound-Kube turns cluster state into OpenGraph data.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6"/>
          <p:cNvSpPr/>
          <p:nvPr/>
        </p:nvSpPr>
        <p:spPr>
          <a:xfrm>
            <a:off x="822960" y="3465720"/>
            <a:ext cx="364680" cy="36468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7"/>
          <p:cNvSpPr/>
          <p:nvPr/>
        </p:nvSpPr>
        <p:spPr>
          <a:xfrm>
            <a:off x="1417320" y="3312360"/>
            <a:ext cx="6114240" cy="6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Better visibility leads to better, faster, more accurate testing.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9"/>
          <p:cNvSpPr/>
          <p:nvPr/>
        </p:nvSpPr>
        <p:spPr>
          <a:xfrm>
            <a:off x="861480" y="4312800"/>
            <a:ext cx="10500840" cy="1715760"/>
          </a:xfrm>
          <a:prstGeom prst="roundRect">
            <a:avLst>
              <a:gd name="adj" fmla="val 7317"/>
            </a:avLst>
          </a:prstGeom>
          <a:solidFill>
            <a:srgbClr val="070809"/>
          </a:solidFill>
          <a:ln w="12700">
            <a:solidFill>
              <a:srgbClr val="555A60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0"/>
          <p:cNvSpPr/>
          <p:nvPr/>
        </p:nvSpPr>
        <p:spPr>
          <a:xfrm>
            <a:off x="1038600" y="4400280"/>
            <a:ext cx="1011096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github.com/HackinAhab/bloodhound-kube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1"/>
          <p:cNvSpPr/>
          <p:nvPr/>
        </p:nvSpPr>
        <p:spPr>
          <a:xfrm>
            <a:off x="1038600" y="5020200"/>
            <a:ext cx="783612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Open source  |  Contributions and feedback welcome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6" name="Picture 243"/>
          <p:cNvPicPr/>
          <p:nvPr/>
        </p:nvPicPr>
        <p:blipFill>
          <a:blip r:embed="rId1"/>
          <a:stretch/>
        </p:blipFill>
        <p:spPr>
          <a:xfrm>
            <a:off x="7653960" y="640080"/>
            <a:ext cx="3417120" cy="341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19"/>
          <p:cNvSpPr/>
          <p:nvPr/>
        </p:nvSpPr>
        <p:spPr>
          <a:xfrm>
            <a:off x="0" y="-11160"/>
            <a:ext cx="12190680" cy="685692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61"/>
          <p:cNvSpPr/>
          <p:nvPr/>
        </p:nvSpPr>
        <p:spPr>
          <a:xfrm>
            <a:off x="18360" y="18360"/>
            <a:ext cx="12153960" cy="682020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62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63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4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65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66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67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68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69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70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71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72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73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74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75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76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77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78"/>
          <p:cNvSpPr/>
          <p:nvPr/>
        </p:nvSpPr>
        <p:spPr>
          <a:xfrm>
            <a:off x="6949440" y="57607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7"/>
          <p:cNvSpPr/>
          <p:nvPr/>
        </p:nvSpPr>
        <p:spPr>
          <a:xfrm>
            <a:off x="255960" y="6455520"/>
            <a:ext cx="4104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06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8"/>
          <p:cNvSpPr/>
          <p:nvPr/>
        </p:nvSpPr>
        <p:spPr>
          <a:xfrm>
            <a:off x="9829800" y="6455520"/>
            <a:ext cx="20563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BLOODHOUND-KUBE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9"/>
          <p:cNvSpPr/>
          <p:nvPr/>
        </p:nvSpPr>
        <p:spPr>
          <a:xfrm>
            <a:off x="576000" y="384120"/>
            <a:ext cx="7131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PlaceHolder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79"/>
          <p:cNvSpPr/>
          <p:nvPr/>
        </p:nvSpPr>
        <p:spPr>
          <a:xfrm>
            <a:off x="576000" y="932400"/>
            <a:ext cx="914400" cy="360"/>
          </a:xfrm>
          <a:prstGeom prst="line">
            <a:avLst/>
          </a:prstGeom>
          <a:ln w="279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1"/>
          <p:cNvSpPr/>
          <p:nvPr/>
        </p:nvSpPr>
        <p:spPr>
          <a:xfrm>
            <a:off x="1627560" y="896040"/>
            <a:ext cx="89600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6AAB0"/>
                </a:solidFill>
                <a:effectLst/>
                <a:uFillTx/>
                <a:latin typeface="IBM Plex Sans"/>
                <a:ea typeface="Aptos"/>
              </a:rPr>
              <a:t>Keep the live demo narrow: one environment, one path, one clear conclusion.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 pitchFamily="0" charset="1"/>
        <a:ea typeface=""/>
        <a:cs typeface=""/>
      </a:majorFont>
      <a:minorFont>
        <a:latin typeface="IBM Plex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2668</TotalTime>
  <Application>LibreOffice/26.2.6.3$Linux_X86_64 LibreOffice_project/620$Build-3</Application>
  <AppVersion>15.0000</AppVersion>
  <Words>497</Words>
  <Paragraphs>101</Paragraphs>
  <Company>HackinAhab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2026-09-16T12:58:13Z</dcterms:created>
  <dc:creator>HackinAhab / OpenAI</dc:creator>
  <dc:description/>
  <dc:language>en-US</dc:language>
  <cp:lastModifiedBy/>
  <cp:lastPrinted>2026-09-29T19:41:14Z</cp:lastPrinted>
  <dcterms:modified xsi:type="dcterms:W3CDTF">2026-10-05T20:00:12Z</dcterms:modified>
  <cp:revision>9</cp:revision>
  <dc:subject>BloodHound-Kube conference demo deck</dc:subject>
  <dc:title>BloodHound-Kube: Kubernetes Attack Path Analysis with BloodHound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9</vt:i4>
  </property>
  <property fmtid="{D5CDD505-2E9C-101B-9397-08002B2CF9AE}" pid="4" name="PresentationFormat">
    <vt:lpwstr>Widescreen</vt:lpwstr>
  </property>
  <property fmtid="{D5CDD505-2E9C-101B-9397-08002B2CF9AE}" pid="5" name="Slides">
    <vt:i4>9</vt:i4>
  </property>
</Properties>
</file>