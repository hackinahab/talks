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49DF566-5DDD-4FF2-B791-52BABB54405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75CF20-4E31-4760-8876-E04406F8F4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672724-A632-4769-955F-A8F6D50BB8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A163FF-9A07-49BE-8D1A-BE030606DD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1C6485-EFAE-4F9C-A939-3693565DA5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64FBD9-45DC-486D-8010-A7B660CCAA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119376-3E34-4882-A1C4-33D488D015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case of the demo gods striking me 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378DCD-D6AC-4D1E-98BE-72AB7977E0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4DE0CE-112F-4D66-8522-8511C31699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A69785-1B4E-479A-9305-5387E5BF3C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0FFFBA-CE4A-423A-A618-AB8F90457E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IBM Plex Sans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HK_MASTER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IBM Plex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" descr="spectral_hound_cybersecurity_network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Rectangle 2"/>
          <p:cNvSpPr/>
          <p:nvPr/>
        </p:nvSpPr>
        <p:spPr>
          <a:xfrm>
            <a:off x="0" y="0"/>
            <a:ext cx="560700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IBM Plex Sans"/>
            </a:endParaRPr>
          </a:p>
        </p:txBody>
      </p:sp>
      <p:sp>
        <p:nvSpPr>
          <p:cNvPr id="12" name="TextBox 3"/>
          <p:cNvSpPr/>
          <p:nvPr/>
        </p:nvSpPr>
        <p:spPr>
          <a:xfrm>
            <a:off x="411480" y="3291840"/>
            <a:ext cx="30376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BloodHound-</a:t>
            </a:r>
            <a:r>
              <a:rPr lang="en-US" sz="2600" b="1" u="none" strike="noStrike">
                <a:solidFill>
                  <a:srgbClr val="FF3B3B"/>
                </a:solidFill>
                <a:effectLst/>
                <a:uFillTx/>
                <a:latin typeface="IBM Plex Sans"/>
              </a:rPr>
              <a:t>Kube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Box 5"/>
          <p:cNvSpPr/>
          <p:nvPr/>
        </p:nvSpPr>
        <p:spPr>
          <a:xfrm>
            <a:off x="411480" y="3776760"/>
            <a:ext cx="4206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E6E6E6"/>
                </a:solidFill>
                <a:effectLst/>
                <a:uFillTx/>
                <a:latin typeface="IBM Plex Sans"/>
              </a:rPr>
              <a:t>Kubernetes Attack Path Analysis with BloodHound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Box 6"/>
          <p:cNvSpPr/>
          <p:nvPr/>
        </p:nvSpPr>
        <p:spPr>
          <a:xfrm>
            <a:off x="309960" y="6355080"/>
            <a:ext cx="6864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A0A0A0"/>
                </a:solidFill>
                <a:effectLst/>
                <a:uFillTx/>
                <a:latin typeface="IBM Plex Sans"/>
              </a:rPr>
              <a:t>Don Cowan   |   https://github.com/HackinAhab/bloodhound-kube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Rectangle 8"/>
          <p:cNvSpPr/>
          <p:nvPr/>
        </p:nvSpPr>
        <p:spPr>
          <a:xfrm>
            <a:off x="457560" y="4114440"/>
            <a:ext cx="2284560" cy="11160"/>
          </a:xfrm>
          <a:prstGeom prst="rect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IBM Plex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9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~# whoami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4"/>
          <p:cNvSpPr/>
          <p:nvPr/>
        </p:nvSpPr>
        <p:spPr>
          <a:xfrm>
            <a:off x="649800" y="1435680"/>
            <a:ext cx="1630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5"/>
          <p:cNvSpPr/>
          <p:nvPr/>
        </p:nvSpPr>
        <p:spPr>
          <a:xfrm>
            <a:off x="555840" y="1024200"/>
            <a:ext cx="7739280" cy="5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0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pentester | homelab nerd | semi-professional debugger</a:t>
            </a:r>
            <a:r>
              <a:rPr lang="en-US" sz="20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 </a:t>
            </a:r>
            <a:r>
              <a:rPr lang="en-US" sz="20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of skill issues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2"/>
          <p:cNvSpPr/>
          <p:nvPr/>
        </p:nvSpPr>
        <p:spPr>
          <a:xfrm>
            <a:off x="685800" y="3218760"/>
            <a:ext cx="1630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Picture 40"/>
          <p:cNvPicPr/>
          <p:nvPr/>
        </p:nvPicPr>
        <p:blipFill>
          <a:blip r:embed="rId1"/>
          <a:stretch/>
        </p:blipFill>
        <p:spPr>
          <a:xfrm rot="4200">
            <a:off x="8400240" y="968760"/>
            <a:ext cx="3193920" cy="4789080"/>
          </a:xfrm>
          <a:prstGeom prst="rect">
            <a:avLst/>
          </a:prstGeom>
          <a:noFill/>
          <a:ln w="0">
            <a:noFill/>
          </a:ln>
          <a:effectLst>
            <a:outerShdw dist="101823" dir="2700000" rotWithShape="0">
              <a:srgbClr val="808080"/>
            </a:outerShdw>
          </a:effectLst>
        </p:spPr>
      </p:pic>
      <p:sp>
        <p:nvSpPr>
          <p:cNvPr id="41" name="TextBox 41"/>
          <p:cNvSpPr/>
          <p:nvPr/>
        </p:nvSpPr>
        <p:spPr>
          <a:xfrm>
            <a:off x="510840" y="2143080"/>
            <a:ext cx="48222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Arial"/>
              </a:rPr>
              <a:t>Don Cowan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Arial"/>
              </a:rPr>
              <a:t>@HackinAhab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Arial"/>
              </a:rPr>
              <a:t>https://ahab.dev/card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" name="Picture 42"/>
          <p:cNvPicPr/>
          <p:nvPr/>
        </p:nvPicPr>
        <p:blipFill>
          <a:blip r:embed="rId2"/>
          <a:stretch/>
        </p:blipFill>
        <p:spPr>
          <a:xfrm>
            <a:off x="627840" y="3495960"/>
            <a:ext cx="2990880" cy="2990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20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1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8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0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7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48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9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50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1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52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53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54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55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56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57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58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59"/>
          <p:cNvSpPr/>
          <p:nvPr/>
        </p:nvSpPr>
        <p:spPr>
          <a:xfrm>
            <a:off x="3200400" y="1600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Kubernetes relationship problems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60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1627560" y="794520"/>
            <a:ext cx="8959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55000" lnSpcReduction="19999"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685800" y="1435680"/>
            <a:ext cx="1630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280080" y="1367280"/>
            <a:ext cx="11606400" cy="49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 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A Kubernetes cluster is not just one permission system, it is many relationships stacked together.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 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RBAC, service accounts, workloads, secrets, and namespaces interact in non-obvious ways.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 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IBM Plex Sans"/>
              </a:rPr>
              <a:t>A single permission often looks harmless until it is chained with workload behavior.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kubectl and raw YAML don’t show multi-step reachability at scale.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4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Penetration tests need fast answers to “what can this principal become?”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914400" y="2606040"/>
            <a:ext cx="4844880" cy="5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2"/>
          <p:cNvSpPr/>
          <p:nvPr/>
        </p:nvSpPr>
        <p:spPr>
          <a:xfrm>
            <a:off x="914400" y="3200400"/>
            <a:ext cx="4844880" cy="5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-18360" y="1836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What is BloodHound-Kube?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2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4"/>
          <p:cNvSpPr/>
          <p:nvPr/>
        </p:nvSpPr>
        <p:spPr>
          <a:xfrm>
            <a:off x="1280160" y="1508760"/>
            <a:ext cx="528840" cy="528840"/>
          </a:xfrm>
          <a:prstGeom prst="ellipse">
            <a:avLst/>
          </a:prstGeom>
          <a:solidFill>
            <a:srgbClr val="17191C"/>
          </a:solidFill>
          <a:ln w="15240">
            <a:solidFill>
              <a:srgbClr val="555A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5"/>
          <p:cNvSpPr/>
          <p:nvPr/>
        </p:nvSpPr>
        <p:spPr>
          <a:xfrm>
            <a:off x="713160" y="2258640"/>
            <a:ext cx="1662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Collect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6"/>
          <p:cNvSpPr/>
          <p:nvPr/>
        </p:nvSpPr>
        <p:spPr>
          <a:xfrm>
            <a:off x="713160" y="2633400"/>
            <a:ext cx="1751400" cy="11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A6AAB0"/>
                </a:solidFill>
                <a:effectLst/>
                <a:uFillTx/>
                <a:latin typeface="IBM Plex Sans"/>
                <a:ea typeface="Aptos"/>
              </a:rPr>
              <a:t>Gather Kubernetes objects via API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7"/>
          <p:cNvSpPr/>
          <p:nvPr/>
        </p:nvSpPr>
        <p:spPr>
          <a:xfrm>
            <a:off x="2404800" y="1773720"/>
            <a:ext cx="941760" cy="360"/>
          </a:xfrm>
          <a:prstGeom prst="line">
            <a:avLst/>
          </a:prstGeom>
          <a:ln w="15240">
            <a:solidFill>
              <a:srgbClr val="555A6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8"/>
          <p:cNvSpPr/>
          <p:nvPr/>
        </p:nvSpPr>
        <p:spPr>
          <a:xfrm>
            <a:off x="4060080" y="1508760"/>
            <a:ext cx="528840" cy="528840"/>
          </a:xfrm>
          <a:prstGeom prst="ellipse">
            <a:avLst/>
          </a:prstGeom>
          <a:solidFill>
            <a:srgbClr val="17191C"/>
          </a:solidFill>
          <a:ln w="15240">
            <a:solidFill>
              <a:srgbClr val="555A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9"/>
          <p:cNvSpPr/>
          <p:nvPr/>
        </p:nvSpPr>
        <p:spPr>
          <a:xfrm>
            <a:off x="3493080" y="2258640"/>
            <a:ext cx="1662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Parse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0"/>
          <p:cNvSpPr/>
          <p:nvPr/>
        </p:nvSpPr>
        <p:spPr>
          <a:xfrm>
            <a:off x="3221640" y="2633400"/>
            <a:ext cx="2265840" cy="12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A6AAB0"/>
                </a:solidFill>
                <a:effectLst/>
                <a:uFillTx/>
                <a:latin typeface="IBM Plex Sans"/>
                <a:ea typeface="Aptos"/>
              </a:rPr>
              <a:t>Build nodes, edges, and properties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1"/>
          <p:cNvSpPr/>
          <p:nvPr/>
        </p:nvSpPr>
        <p:spPr>
          <a:xfrm>
            <a:off x="5184360" y="1773720"/>
            <a:ext cx="942120" cy="360"/>
          </a:xfrm>
          <a:prstGeom prst="line">
            <a:avLst/>
          </a:prstGeom>
          <a:ln w="15240">
            <a:solidFill>
              <a:srgbClr val="555A6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2"/>
          <p:cNvSpPr/>
          <p:nvPr/>
        </p:nvSpPr>
        <p:spPr>
          <a:xfrm>
            <a:off x="6839640" y="1508760"/>
            <a:ext cx="528840" cy="528840"/>
          </a:xfrm>
          <a:prstGeom prst="ellipse">
            <a:avLst/>
          </a:prstGeom>
          <a:solidFill>
            <a:srgbClr val="17191C"/>
          </a:solidFill>
          <a:ln w="15240">
            <a:solidFill>
              <a:srgbClr val="555A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3"/>
          <p:cNvSpPr/>
          <p:nvPr/>
        </p:nvSpPr>
        <p:spPr>
          <a:xfrm>
            <a:off x="6272640" y="2258640"/>
            <a:ext cx="1662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Output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4"/>
          <p:cNvSpPr/>
          <p:nvPr/>
        </p:nvSpPr>
        <p:spPr>
          <a:xfrm>
            <a:off x="6073560" y="2599920"/>
            <a:ext cx="201636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A6AAB0"/>
                </a:solidFill>
                <a:effectLst/>
                <a:uFillTx/>
                <a:latin typeface="IBM Plex Sans"/>
                <a:ea typeface="Aptos"/>
              </a:rPr>
              <a:t>Generate BloodHound OpenGraph JSON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5"/>
          <p:cNvSpPr/>
          <p:nvPr/>
        </p:nvSpPr>
        <p:spPr>
          <a:xfrm>
            <a:off x="7964280" y="1773720"/>
            <a:ext cx="941760" cy="360"/>
          </a:xfrm>
          <a:prstGeom prst="line">
            <a:avLst/>
          </a:prstGeom>
          <a:ln w="25400">
            <a:solidFill>
              <a:srgbClr val="E5393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6"/>
          <p:cNvSpPr/>
          <p:nvPr/>
        </p:nvSpPr>
        <p:spPr>
          <a:xfrm>
            <a:off x="9619560" y="1508760"/>
            <a:ext cx="528840" cy="528840"/>
          </a:xfrm>
          <a:prstGeom prst="ellipse">
            <a:avLst/>
          </a:prstGeom>
          <a:solidFill>
            <a:srgbClr val="3A1111"/>
          </a:solidFill>
          <a:ln w="152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7"/>
          <p:cNvSpPr/>
          <p:nvPr/>
        </p:nvSpPr>
        <p:spPr>
          <a:xfrm>
            <a:off x="9052560" y="2258640"/>
            <a:ext cx="1662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Explore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8"/>
          <p:cNvSpPr/>
          <p:nvPr/>
        </p:nvSpPr>
        <p:spPr>
          <a:xfrm>
            <a:off x="9052560" y="2633400"/>
            <a:ext cx="1659240" cy="14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A6AAB0"/>
                </a:solidFill>
                <a:effectLst/>
                <a:uFillTx/>
                <a:latin typeface="IBM Plex Sans"/>
                <a:ea typeface="Aptos"/>
              </a:rPr>
              <a:t>Import and investigate paths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9"/>
          <p:cNvSpPr/>
          <p:nvPr/>
        </p:nvSpPr>
        <p:spPr>
          <a:xfrm>
            <a:off x="760320" y="4215960"/>
            <a:ext cx="10623960" cy="1947600"/>
          </a:xfrm>
          <a:prstGeom prst="roundRect">
            <a:avLst>
              <a:gd name="adj" fmla="val 4615"/>
            </a:avLst>
          </a:prstGeom>
          <a:solidFill>
            <a:srgbClr val="070809"/>
          </a:solidFill>
          <a:ln w="12700">
            <a:solidFill>
              <a:srgbClr val="555A60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0"/>
          <p:cNvSpPr/>
          <p:nvPr/>
        </p:nvSpPr>
        <p:spPr>
          <a:xfrm>
            <a:off x="887040" y="4334400"/>
            <a:ext cx="10404360" cy="18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collect and parse using current kubeconfig/context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./bloodhound-kube collect --scope all --cluster demo --parsed-output demo.json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optional: redact Secret data values while preserving key names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./bloodhound-kube collect --redacted --zip --output demo.jsonl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1"/>
          <p:cNvSpPr/>
          <p:nvPr/>
        </p:nvSpPr>
        <p:spPr>
          <a:xfrm>
            <a:off x="797040" y="5029200"/>
            <a:ext cx="104043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2"/>
          <p:cNvSpPr/>
          <p:nvPr/>
        </p:nvSpPr>
        <p:spPr>
          <a:xfrm>
            <a:off x="887040" y="4729320"/>
            <a:ext cx="10404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47500" lnSpcReduction="19999"/>
          </a:bodyPr>
          <a:p>
            <a:endParaRPr lang="en-US" sz="110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110" name="Text 43"/>
          <p:cNvSpPr/>
          <p:nvPr/>
        </p:nvSpPr>
        <p:spPr>
          <a:xfrm>
            <a:off x="797040" y="5486400"/>
            <a:ext cx="1040436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4"/>
          <p:cNvSpPr/>
          <p:nvPr/>
        </p:nvSpPr>
        <p:spPr>
          <a:xfrm>
            <a:off x="797040" y="5715000"/>
            <a:ext cx="104043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9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1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Demo time! (1 of 2)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2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4"/>
          <p:cNvSpPr/>
          <p:nvPr/>
        </p:nvSpPr>
        <p:spPr>
          <a:xfrm>
            <a:off x="457200" y="914400"/>
            <a:ext cx="11649240" cy="5904000"/>
          </a:xfrm>
          <a:prstGeom prst="roundRect">
            <a:avLst>
              <a:gd name="adj" fmla="val 1967"/>
            </a:avLst>
          </a:prstGeom>
          <a:solidFill>
            <a:srgbClr val="070809"/>
          </a:solidFill>
          <a:ln w="12700">
            <a:solidFill>
              <a:srgbClr val="555A60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 # List Kubernetes objects and CRDs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–discovery-list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Collect all from Multiple clusters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-C clusters.yml -A --scope all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Resume interrupted collection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--fetch-mode-full -A -C clusters.yml # Ctrl+Z out of the collection to produce a checkpoint.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-C clusters.yml --resume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Collect a explicit resource types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-A --type configmaps,secrets --redacted --cluster demo-1 --output ./output/explicit.jsonl                                                           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5"/>
          <p:cNvSpPr/>
          <p:nvPr/>
        </p:nvSpPr>
        <p:spPr>
          <a:xfrm>
            <a:off x="6236280" y="138996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6"/>
          <p:cNvSpPr/>
          <p:nvPr/>
        </p:nvSpPr>
        <p:spPr>
          <a:xfrm>
            <a:off x="6766560" y="2743200"/>
            <a:ext cx="49453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7"/>
          <p:cNvSpPr/>
          <p:nvPr/>
        </p:nvSpPr>
        <p:spPr>
          <a:xfrm>
            <a:off x="6236280" y="203688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92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138" name="Text 38"/>
          <p:cNvSpPr/>
          <p:nvPr/>
        </p:nvSpPr>
        <p:spPr>
          <a:xfrm>
            <a:off x="6236280" y="236016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9"/>
          <p:cNvSpPr/>
          <p:nvPr/>
        </p:nvSpPr>
        <p:spPr>
          <a:xfrm>
            <a:off x="6236280" y="2683800"/>
            <a:ext cx="49453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0"/>
          <p:cNvSpPr/>
          <p:nvPr/>
        </p:nvSpPr>
        <p:spPr>
          <a:xfrm>
            <a:off x="6236280" y="300708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92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141" name="Text 41"/>
          <p:cNvSpPr/>
          <p:nvPr/>
        </p:nvSpPr>
        <p:spPr>
          <a:xfrm>
            <a:off x="6126480" y="18360"/>
            <a:ext cx="5164920" cy="68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2"/>
          <p:cNvSpPr/>
          <p:nvPr/>
        </p:nvSpPr>
        <p:spPr>
          <a:xfrm>
            <a:off x="6236280" y="3654000"/>
            <a:ext cx="49453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26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2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4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92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93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94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95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96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97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98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99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00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01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02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03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4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Demo time! (2 of 2)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04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5"/>
          <p:cNvSpPr/>
          <p:nvPr/>
        </p:nvSpPr>
        <p:spPr>
          <a:xfrm>
            <a:off x="457200" y="914400"/>
            <a:ext cx="11649240" cy="5904000"/>
          </a:xfrm>
          <a:prstGeom prst="roundRect">
            <a:avLst>
              <a:gd name="adj" fmla="val 1967"/>
            </a:avLst>
          </a:prstGeom>
          <a:solidFill>
            <a:srgbClr val="070809"/>
          </a:solidFill>
          <a:ln w="12700">
            <a:solidFill>
              <a:srgbClr val="555A60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Collect all, and parse undefined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collect --parse-undefined-nodes -A --scope all --output ./output/undefined-demo.jsonl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# Upload results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upload --enable-extension --url http://localhost:8080 --token-id $TOK_ID --token-key $TOK_KEY --schema-file ./schema.json --queries-file ./queries.json --cluster demo-1 --upload-file output/bhk-demo.json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bloodhound-kube upload --enable-extension --url http://localhost:8080 --token-id $TOK_ID --token-key $TOK_KEY --schema-file ./schema.json --queries-file ./queries.json --cluster demo-2 --upload-file output/bhk-demo-2.json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6"/>
          <p:cNvSpPr/>
          <p:nvPr/>
        </p:nvSpPr>
        <p:spPr>
          <a:xfrm>
            <a:off x="6236280" y="138996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7"/>
          <p:cNvSpPr/>
          <p:nvPr/>
        </p:nvSpPr>
        <p:spPr>
          <a:xfrm>
            <a:off x="6766560" y="2743200"/>
            <a:ext cx="49453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8"/>
          <p:cNvSpPr/>
          <p:nvPr/>
        </p:nvSpPr>
        <p:spPr>
          <a:xfrm>
            <a:off x="6236280" y="203688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92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169" name="Text 20"/>
          <p:cNvSpPr/>
          <p:nvPr/>
        </p:nvSpPr>
        <p:spPr>
          <a:xfrm>
            <a:off x="6236280" y="236016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5"/>
          <p:cNvSpPr/>
          <p:nvPr/>
        </p:nvSpPr>
        <p:spPr>
          <a:xfrm>
            <a:off x="6236280" y="2683800"/>
            <a:ext cx="49453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6"/>
          <p:cNvSpPr/>
          <p:nvPr/>
        </p:nvSpPr>
        <p:spPr>
          <a:xfrm>
            <a:off x="6236280" y="3007080"/>
            <a:ext cx="494532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endParaRPr lang="en-US" sz="920" b="0" u="none" strike="noStrike">
              <a:solidFill>
                <a:schemeClr val="dk1"/>
              </a:solidFill>
              <a:effectLst/>
              <a:uFillTx/>
              <a:latin typeface="IBM Plex Sans"/>
            </a:endParaRPr>
          </a:p>
        </p:txBody>
      </p:sp>
      <p:sp>
        <p:nvSpPr>
          <p:cNvPr id="172" name="Text 47"/>
          <p:cNvSpPr/>
          <p:nvPr/>
        </p:nvSpPr>
        <p:spPr>
          <a:xfrm>
            <a:off x="6126480" y="18360"/>
            <a:ext cx="5164920" cy="68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8"/>
          <p:cNvSpPr/>
          <p:nvPr/>
        </p:nvSpPr>
        <p:spPr>
          <a:xfrm>
            <a:off x="6236280" y="3654000"/>
            <a:ext cx="49453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24"/>
          <p:cNvSpPr/>
          <p:nvPr/>
        </p:nvSpPr>
        <p:spPr>
          <a:xfrm>
            <a:off x="0" y="-1116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5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3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6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37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38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0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1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0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81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82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83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84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85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86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87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88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89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90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Demo Video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91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9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1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How to Interpret the Graph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2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4"/>
          <p:cNvSpPr/>
          <p:nvPr/>
        </p:nvSpPr>
        <p:spPr>
          <a:xfrm>
            <a:off x="822960" y="1505160"/>
            <a:ext cx="4707720" cy="401040"/>
          </a:xfrm>
          <a:prstGeom prst="rect">
            <a:avLst/>
          </a:prstGeom>
          <a:solidFill>
            <a:srgbClr val="17191C"/>
          </a:solidFill>
          <a:ln w="12700">
            <a:solidFill>
              <a:srgbClr val="555A60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" tIns="1800" rIns="1800" bIns="180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 What the graph can tell you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6"/>
          <p:cNvSpPr/>
          <p:nvPr/>
        </p:nvSpPr>
        <p:spPr>
          <a:xfrm>
            <a:off x="795600" y="1965960"/>
            <a:ext cx="4717080" cy="44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Which objects are connected by relationships.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Which paths are the most straightforward.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Which misconfiguration is most relevant to the path.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Which relationship is likely to lead to an objective.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1188720" y="2464200"/>
            <a:ext cx="415908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0"/>
          <p:cNvSpPr/>
          <p:nvPr/>
        </p:nvSpPr>
        <p:spPr>
          <a:xfrm>
            <a:off x="1188720" y="2962800"/>
            <a:ext cx="415908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2"/>
          <p:cNvSpPr/>
          <p:nvPr/>
        </p:nvSpPr>
        <p:spPr>
          <a:xfrm>
            <a:off x="1188720" y="3461040"/>
            <a:ext cx="415908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3"/>
          <p:cNvSpPr/>
          <p:nvPr/>
        </p:nvSpPr>
        <p:spPr>
          <a:xfrm>
            <a:off x="6446520" y="1494000"/>
            <a:ext cx="4707720" cy="401040"/>
          </a:xfrm>
          <a:prstGeom prst="rect">
            <a:avLst/>
          </a:prstGeom>
          <a:solidFill>
            <a:srgbClr val="3A1111"/>
          </a:solidFill>
          <a:ln w="12700">
            <a:solidFill>
              <a:srgbClr val="E5393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" tIns="1800" rIns="1800" bIns="180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 What still requires tester validation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5"/>
          <p:cNvSpPr/>
          <p:nvPr/>
        </p:nvSpPr>
        <p:spPr>
          <a:xfrm>
            <a:off x="6421320" y="1965960"/>
            <a:ext cx="51760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Whether the path is exploitable in the specific environment.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Whether compensating controls block the chain.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Whether captured credentials are valid and in scope.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E53935"/>
                </a:solidFill>
                <a:effectLst/>
                <a:uFillTx/>
                <a:latin typeface="IBM Plex Sans"/>
                <a:ea typeface="Aptos"/>
              </a:rPr>
              <a:t>•</a:t>
            </a:r>
            <a:r>
              <a:rPr lang="en-US" sz="26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Whether the path creates meaningful business impact.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9"/>
          <p:cNvSpPr/>
          <p:nvPr/>
        </p:nvSpPr>
        <p:spPr>
          <a:xfrm>
            <a:off x="6812280" y="2962800"/>
            <a:ext cx="415908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1"/>
          <p:cNvSpPr/>
          <p:nvPr/>
        </p:nvSpPr>
        <p:spPr>
          <a:xfrm>
            <a:off x="6812280" y="3461040"/>
            <a:ext cx="415908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9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1"/>
          <p:cNvSpPr/>
          <p:nvPr/>
        </p:nvSpPr>
        <p:spPr>
          <a:xfrm>
            <a:off x="749880" y="114300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Questions?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2"/>
          <p:cNvSpPr/>
          <p:nvPr/>
        </p:nvSpPr>
        <p:spPr>
          <a:xfrm>
            <a:off x="822960" y="2148840"/>
            <a:ext cx="364320" cy="364320"/>
          </a:xfrm>
          <a:prstGeom prst="ellipse">
            <a:avLst/>
          </a:prstGeom>
          <a:solidFill>
            <a:srgbClr val="17191C"/>
          </a:solidFill>
          <a:ln w="15240">
            <a:solidFill>
              <a:srgbClr val="555A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3"/>
          <p:cNvSpPr/>
          <p:nvPr/>
        </p:nvSpPr>
        <p:spPr>
          <a:xfrm>
            <a:off x="1417320" y="2148840"/>
            <a:ext cx="57592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Kubernetes relationships are a graph problem.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4"/>
          <p:cNvSpPr/>
          <p:nvPr/>
        </p:nvSpPr>
        <p:spPr>
          <a:xfrm>
            <a:off x="822960" y="2807280"/>
            <a:ext cx="364320" cy="364320"/>
          </a:xfrm>
          <a:prstGeom prst="ellipse">
            <a:avLst/>
          </a:prstGeom>
          <a:solidFill>
            <a:srgbClr val="3A1111"/>
          </a:solidFill>
          <a:ln w="152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5"/>
          <p:cNvSpPr/>
          <p:nvPr/>
        </p:nvSpPr>
        <p:spPr>
          <a:xfrm>
            <a:off x="1417320" y="2653920"/>
            <a:ext cx="5943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BloodHound-Kube turns cluster state into OpenGraph data.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6"/>
          <p:cNvSpPr/>
          <p:nvPr/>
        </p:nvSpPr>
        <p:spPr>
          <a:xfrm>
            <a:off x="822960" y="3465720"/>
            <a:ext cx="364320" cy="364320"/>
          </a:xfrm>
          <a:prstGeom prst="ellipse">
            <a:avLst/>
          </a:prstGeom>
          <a:solidFill>
            <a:srgbClr val="17191C"/>
          </a:solidFill>
          <a:ln w="15240">
            <a:solidFill>
              <a:srgbClr val="555A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7"/>
          <p:cNvSpPr/>
          <p:nvPr/>
        </p:nvSpPr>
        <p:spPr>
          <a:xfrm>
            <a:off x="1417320" y="3312360"/>
            <a:ext cx="6113880" cy="6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4D6DA"/>
                </a:solidFill>
                <a:effectLst/>
                <a:uFillTx/>
                <a:latin typeface="IBM Plex Sans"/>
                <a:ea typeface="Aptos"/>
              </a:rPr>
              <a:t>Better visibility leads to better, faster, more accurate testing.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9"/>
          <p:cNvSpPr/>
          <p:nvPr/>
        </p:nvSpPr>
        <p:spPr>
          <a:xfrm>
            <a:off x="861480" y="4312800"/>
            <a:ext cx="10500480" cy="1715400"/>
          </a:xfrm>
          <a:prstGeom prst="roundRect">
            <a:avLst>
              <a:gd name="adj" fmla="val 7317"/>
            </a:avLst>
          </a:prstGeom>
          <a:solidFill>
            <a:srgbClr val="070809"/>
          </a:solidFill>
          <a:ln w="12700">
            <a:solidFill>
              <a:srgbClr val="555A60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0"/>
          <p:cNvSpPr/>
          <p:nvPr/>
        </p:nvSpPr>
        <p:spPr>
          <a:xfrm>
            <a:off x="1038600" y="4400280"/>
            <a:ext cx="1011060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github.com/HackinAhab/bloodhound-kube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31"/>
          <p:cNvSpPr/>
          <p:nvPr/>
        </p:nvSpPr>
        <p:spPr>
          <a:xfrm>
            <a:off x="1038600" y="5020200"/>
            <a:ext cx="783576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7E7E7"/>
                </a:solidFill>
                <a:effectLst/>
                <a:uFillTx/>
                <a:latin typeface="IBM Plex Sans"/>
                <a:ea typeface="DejaVu Sans Mono"/>
              </a:rPr>
              <a:t>Open source  |  Contributions and feedback welcome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3"/>
          <p:cNvPicPr/>
          <p:nvPr/>
        </p:nvPicPr>
        <p:blipFill>
          <a:blip r:embed="rId1"/>
          <a:stretch/>
        </p:blipFill>
        <p:spPr>
          <a:xfrm>
            <a:off x="7653960" y="640080"/>
            <a:ext cx="3416760" cy="341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19"/>
          <p:cNvSpPr/>
          <p:nvPr/>
        </p:nvSpPr>
        <p:spPr>
          <a:xfrm>
            <a:off x="0" y="-11160"/>
            <a:ext cx="12190320" cy="685656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61"/>
          <p:cNvSpPr/>
          <p:nvPr/>
        </p:nvSpPr>
        <p:spPr>
          <a:xfrm>
            <a:off x="18360" y="18360"/>
            <a:ext cx="12153600" cy="6819840"/>
          </a:xfrm>
          <a:prstGeom prst="rect">
            <a:avLst/>
          </a:prstGeom>
          <a:noFill/>
          <a:ln w="15240">
            <a:solidFill>
              <a:srgbClr val="1E2024">
                <a:alpha val="9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2"/>
          <p:cNvSpPr/>
          <p:nvPr/>
        </p:nvSpPr>
        <p:spPr>
          <a:xfrm flipH="1">
            <a:off x="43891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63"/>
          <p:cNvSpPr/>
          <p:nvPr/>
        </p:nvSpPr>
        <p:spPr>
          <a:xfrm flipH="1">
            <a:off x="49834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64"/>
          <p:cNvSpPr/>
          <p:nvPr/>
        </p:nvSpPr>
        <p:spPr>
          <a:xfrm flipH="1">
            <a:off x="55778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65"/>
          <p:cNvSpPr/>
          <p:nvPr/>
        </p:nvSpPr>
        <p:spPr>
          <a:xfrm flipH="1">
            <a:off x="61722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66"/>
          <p:cNvSpPr/>
          <p:nvPr/>
        </p:nvSpPr>
        <p:spPr>
          <a:xfrm flipH="1">
            <a:off x="676656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67"/>
          <p:cNvSpPr/>
          <p:nvPr/>
        </p:nvSpPr>
        <p:spPr>
          <a:xfrm flipH="1">
            <a:off x="736092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68"/>
          <p:cNvSpPr/>
          <p:nvPr/>
        </p:nvSpPr>
        <p:spPr>
          <a:xfrm flipH="1">
            <a:off x="795528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69"/>
          <p:cNvSpPr/>
          <p:nvPr/>
        </p:nvSpPr>
        <p:spPr>
          <a:xfrm flipH="1">
            <a:off x="854964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70"/>
          <p:cNvSpPr/>
          <p:nvPr/>
        </p:nvSpPr>
        <p:spPr>
          <a:xfrm flipH="1">
            <a:off x="9144000" y="228600"/>
            <a:ext cx="2926080" cy="6309360"/>
          </a:xfrm>
          <a:prstGeom prst="line">
            <a:avLst/>
          </a:prstGeom>
          <a:ln w="6350">
            <a:solidFill>
              <a:srgbClr val="22262A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71"/>
          <p:cNvSpPr/>
          <p:nvPr/>
        </p:nvSpPr>
        <p:spPr>
          <a:xfrm>
            <a:off x="6949440" y="6400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72"/>
          <p:cNvSpPr/>
          <p:nvPr/>
        </p:nvSpPr>
        <p:spPr>
          <a:xfrm>
            <a:off x="6949440" y="13716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3"/>
          <p:cNvSpPr/>
          <p:nvPr/>
        </p:nvSpPr>
        <p:spPr>
          <a:xfrm>
            <a:off x="6949440" y="21031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74"/>
          <p:cNvSpPr/>
          <p:nvPr/>
        </p:nvSpPr>
        <p:spPr>
          <a:xfrm>
            <a:off x="6949440" y="283464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75"/>
          <p:cNvSpPr/>
          <p:nvPr/>
        </p:nvSpPr>
        <p:spPr>
          <a:xfrm>
            <a:off x="6949440" y="356616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76"/>
          <p:cNvSpPr/>
          <p:nvPr/>
        </p:nvSpPr>
        <p:spPr>
          <a:xfrm>
            <a:off x="6949440" y="429768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77"/>
          <p:cNvSpPr/>
          <p:nvPr/>
        </p:nvSpPr>
        <p:spPr>
          <a:xfrm>
            <a:off x="6949440" y="502920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78"/>
          <p:cNvSpPr/>
          <p:nvPr/>
        </p:nvSpPr>
        <p:spPr>
          <a:xfrm>
            <a:off x="6949440" y="5760720"/>
            <a:ext cx="4937760" cy="45720"/>
          </a:xfrm>
          <a:prstGeom prst="line">
            <a:avLst/>
          </a:prstGeom>
          <a:ln w="4445">
            <a:solidFill>
              <a:srgbClr val="22262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7"/>
          <p:cNvSpPr/>
          <p:nvPr/>
        </p:nvSpPr>
        <p:spPr>
          <a:xfrm>
            <a:off x="255960" y="6455520"/>
            <a:ext cx="410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06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8"/>
          <p:cNvSpPr/>
          <p:nvPr/>
        </p:nvSpPr>
        <p:spPr>
          <a:xfrm>
            <a:off x="9829800" y="6455520"/>
            <a:ext cx="205596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8F949A"/>
                </a:solidFill>
                <a:effectLst/>
                <a:uFillTx/>
                <a:latin typeface="IBM Plex Sans"/>
                <a:ea typeface="Aptos"/>
              </a:rPr>
              <a:t>BLOODHOUND-KUBE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9"/>
          <p:cNvSpPr/>
          <p:nvPr/>
        </p:nvSpPr>
        <p:spPr>
          <a:xfrm>
            <a:off x="576000" y="384120"/>
            <a:ext cx="7130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2F3F5"/>
                </a:solidFill>
                <a:effectLst/>
                <a:uFillTx/>
                <a:latin typeface="IBM Plex Sans"/>
                <a:ea typeface="Aptos Display"/>
              </a:rPr>
              <a:t>PlaceHolder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79"/>
          <p:cNvSpPr/>
          <p:nvPr/>
        </p:nvSpPr>
        <p:spPr>
          <a:xfrm>
            <a:off x="576000" y="932400"/>
            <a:ext cx="914400" cy="360"/>
          </a:xfrm>
          <a:prstGeom prst="line">
            <a:avLst/>
          </a:prstGeom>
          <a:ln w="27940">
            <a:solidFill>
              <a:srgbClr val="E539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1"/>
          <p:cNvSpPr/>
          <p:nvPr/>
        </p:nvSpPr>
        <p:spPr>
          <a:xfrm>
            <a:off x="1627560" y="896040"/>
            <a:ext cx="8959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6AAB0"/>
                </a:solidFill>
                <a:effectLst/>
                <a:uFillTx/>
                <a:latin typeface="IBM Plex Sans"/>
                <a:ea typeface="Aptos"/>
              </a:rPr>
              <a:t>Keep the live demo narrow: one environment, one path, one clear conclusion.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" pitchFamily="0" charset="1"/>
        <a:ea typeface=""/>
        <a:cs typeface=""/>
      </a:majorFont>
      <a:minorFont>
        <a:latin typeface="IBM Plex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2910</TotalTime>
  <Application>LibreOffice/26.2.6.3$Linux_X86_64 LibreOffice_project/620$Build-3</Application>
  <AppVersion>15.0000</AppVersion>
  <Words>497</Words>
  <Paragraphs>101</Paragraphs>
  <Company>HackinAhab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2026-09-16T12:58:13Z</dcterms:created>
  <dc:creator>HackinAhab / OpenAI</dc:creator>
  <dc:description/>
  <dc:language>en-US</dc:language>
  <cp:lastModifiedBy/>
  <cp:lastPrinted>2026-09-29T19:41:14Z</cp:lastPrinted>
  <dcterms:modified xsi:type="dcterms:W3CDTF">2026-10-06T15:53:32Z</dcterms:modified>
  <cp:revision>13</cp:revision>
  <dc:subject>BloodHound-Kube conference demo deck</dc:subject>
  <dc:title>BloodHound-Kube: Kubernetes Attack Path Analysis with BloodHound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9</vt:i4>
  </property>
  <property fmtid="{D5CDD505-2E9C-101B-9397-08002B2CF9AE}" pid="4" name="PresentationFormat">
    <vt:lpwstr>Widescreen</vt:lpwstr>
  </property>
  <property fmtid="{D5CDD505-2E9C-101B-9397-08002B2CF9AE}" pid="5" name="Slides">
    <vt:i4>9</vt:i4>
  </property>
</Properties>
</file>