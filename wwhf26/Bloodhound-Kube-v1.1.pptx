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IBM Plex Sans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IBM Plex Sans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0F84CEC-509F-4F38-8351-F1343305B2DF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IBM Plex Sans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7FA8A86-AF36-4D48-8661-1995EE12831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IBM Plex Sans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IBM Plex Sans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A404E84-3C8D-4416-B3AF-4E19FA1E6D7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IBM Plex Sans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IBM Plex Sans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D82FF9B-E769-42D9-A591-91E4E5CE9B2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IBM Plex Sans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IBM Plex Sans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46F901C-CEEB-4F54-9251-7EBA0BF7F1B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IBM Plex Sans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IBM Plex Sans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2C4EABC-BC3D-4D14-9308-753FAA31796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IBM Plex Sans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 case of the demo gods striking me down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IBM Plex Sans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4A552EA-F59D-473F-8E0B-AE369420DE0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IBM Plex Sans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IBM Plex Sans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6AB4BEC-769C-49FA-A2D2-71E998F3334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IBM Plex Sans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IBM Plex Sans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7FE5EE2-F989-4E38-B2F5-22DEB9B7CF3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IBM Plex Sans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IBM Plex Sans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3E5531F-5614-42C4-A5C5-F83E1BD0867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IBM Plex Sans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HK_MASTER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IBM Plex Sans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IBM Plex Sans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IBM Plex San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IBM Plex Sans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IBM Plex Sans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IBM Plex Sans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IBM Plex Sans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IBM Plex Sans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IBM Plex Sans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IBM Plex Sans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IBM Plex Sans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IBM Plex Sans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IBM Plex Sans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IBM Plex Sans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IBM Plex Sans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IBM Plex Sans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IBM Plex Sans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IBM Plex Sans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IBM Plex Sans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IBM Plex Sans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IBM Plex Sans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IBM Plex Sans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IBM Plex Sans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IBM Plex Sans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" descr="spectral_hound_cybersecurity_network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Rectangle 2"/>
          <p:cNvSpPr/>
          <p:nvPr/>
        </p:nvSpPr>
        <p:spPr>
          <a:xfrm>
            <a:off x="0" y="0"/>
            <a:ext cx="5607720" cy="68572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IBM Plex Sans"/>
            </a:endParaRPr>
          </a:p>
        </p:txBody>
      </p:sp>
      <p:sp>
        <p:nvSpPr>
          <p:cNvPr id="12" name="TextBox 3"/>
          <p:cNvSpPr/>
          <p:nvPr/>
        </p:nvSpPr>
        <p:spPr>
          <a:xfrm>
            <a:off x="411480" y="3291840"/>
            <a:ext cx="46627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IBM Plex Sans"/>
              </a:rPr>
              <a:t>BloodHound-</a:t>
            </a:r>
            <a:r>
              <a:rPr lang="en-US" sz="2600" b="1" u="none" strike="noStrike">
                <a:solidFill>
                  <a:srgbClr val="FF3B3B"/>
                </a:solidFill>
                <a:effectLst/>
                <a:uFillTx/>
                <a:latin typeface="IBM Plex Sans"/>
              </a:rPr>
              <a:t>Kube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Box 5"/>
          <p:cNvSpPr/>
          <p:nvPr/>
        </p:nvSpPr>
        <p:spPr>
          <a:xfrm>
            <a:off x="411480" y="3776760"/>
            <a:ext cx="58514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rgbClr val="E6E6E6"/>
                </a:solidFill>
                <a:effectLst/>
                <a:uFillTx/>
                <a:latin typeface="IBM Plex Sans"/>
              </a:rPr>
              <a:t>Kubernetes Attack Path Analysis with BloodHound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Box 6"/>
          <p:cNvSpPr/>
          <p:nvPr/>
        </p:nvSpPr>
        <p:spPr>
          <a:xfrm>
            <a:off x="320040" y="6355080"/>
            <a:ext cx="41140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700" b="0" u="none" strike="noStrike">
                <a:solidFill>
                  <a:srgbClr val="A0A0A0"/>
                </a:solidFill>
                <a:effectLst/>
                <a:uFillTx/>
                <a:latin typeface="IBM Plex Sans"/>
              </a:rPr>
              <a:t>HackinAhab   |   https://github.com/HackinAhab/bloodhound-kube</a:t>
            </a:r>
            <a:endParaRPr lang="en-US" sz="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Rectangle 8"/>
          <p:cNvSpPr/>
          <p:nvPr/>
        </p:nvSpPr>
        <p:spPr>
          <a:xfrm>
            <a:off x="457560" y="4114440"/>
            <a:ext cx="2285280" cy="11880"/>
          </a:xfrm>
          <a:prstGeom prst="rect">
            <a:avLst/>
          </a:prstGeom>
          <a:solidFill>
            <a:srgbClr val="FF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2400" rIns="90000" bIns="-324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IBM Plex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"/>
          <p:cNvSpPr/>
          <p:nvPr/>
        </p:nvSpPr>
        <p:spPr>
          <a:xfrm>
            <a:off x="18360" y="18360"/>
            <a:ext cx="12154320" cy="6820560"/>
          </a:xfrm>
          <a:prstGeom prst="rect">
            <a:avLst/>
          </a:prstGeom>
          <a:noFill/>
          <a:ln w="15240">
            <a:solidFill>
              <a:srgbClr val="1E2024">
                <a:alpha val="9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2"/>
          <p:cNvSpPr/>
          <p:nvPr/>
        </p:nvSpPr>
        <p:spPr>
          <a:xfrm flipH="1">
            <a:off x="438912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3"/>
          <p:cNvSpPr/>
          <p:nvPr/>
        </p:nvSpPr>
        <p:spPr>
          <a:xfrm flipH="1">
            <a:off x="498348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4"/>
          <p:cNvSpPr/>
          <p:nvPr/>
        </p:nvSpPr>
        <p:spPr>
          <a:xfrm flipH="1">
            <a:off x="557784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5"/>
          <p:cNvSpPr/>
          <p:nvPr/>
        </p:nvSpPr>
        <p:spPr>
          <a:xfrm flipH="1">
            <a:off x="617220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6"/>
          <p:cNvSpPr/>
          <p:nvPr/>
        </p:nvSpPr>
        <p:spPr>
          <a:xfrm flipH="1">
            <a:off x="676656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7"/>
          <p:cNvSpPr/>
          <p:nvPr/>
        </p:nvSpPr>
        <p:spPr>
          <a:xfrm flipH="1">
            <a:off x="736092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8"/>
          <p:cNvSpPr/>
          <p:nvPr/>
        </p:nvSpPr>
        <p:spPr>
          <a:xfrm flipH="1">
            <a:off x="795528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9"/>
          <p:cNvSpPr/>
          <p:nvPr/>
        </p:nvSpPr>
        <p:spPr>
          <a:xfrm flipH="1">
            <a:off x="854964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10"/>
          <p:cNvSpPr/>
          <p:nvPr/>
        </p:nvSpPr>
        <p:spPr>
          <a:xfrm flipH="1">
            <a:off x="914400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11"/>
          <p:cNvSpPr/>
          <p:nvPr/>
        </p:nvSpPr>
        <p:spPr>
          <a:xfrm>
            <a:off x="6949440" y="64008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12"/>
          <p:cNvSpPr/>
          <p:nvPr/>
        </p:nvSpPr>
        <p:spPr>
          <a:xfrm>
            <a:off x="6949440" y="137160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13"/>
          <p:cNvSpPr/>
          <p:nvPr/>
        </p:nvSpPr>
        <p:spPr>
          <a:xfrm>
            <a:off x="6949440" y="210312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14"/>
          <p:cNvSpPr/>
          <p:nvPr/>
        </p:nvSpPr>
        <p:spPr>
          <a:xfrm>
            <a:off x="6949440" y="283464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15"/>
          <p:cNvSpPr/>
          <p:nvPr/>
        </p:nvSpPr>
        <p:spPr>
          <a:xfrm>
            <a:off x="6949440" y="356616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16"/>
          <p:cNvSpPr/>
          <p:nvPr/>
        </p:nvSpPr>
        <p:spPr>
          <a:xfrm>
            <a:off x="6949440" y="429768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17"/>
          <p:cNvSpPr/>
          <p:nvPr/>
        </p:nvSpPr>
        <p:spPr>
          <a:xfrm>
            <a:off x="6949440" y="502920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18"/>
          <p:cNvSpPr/>
          <p:nvPr/>
        </p:nvSpPr>
        <p:spPr>
          <a:xfrm>
            <a:off x="6949440" y="576072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9"/>
          <p:cNvSpPr/>
          <p:nvPr/>
        </p:nvSpPr>
        <p:spPr>
          <a:xfrm>
            <a:off x="255960" y="6455520"/>
            <a:ext cx="41076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8F949A"/>
                </a:solidFill>
                <a:effectLst/>
                <a:uFillTx/>
                <a:latin typeface="IBM Plex Sans"/>
                <a:ea typeface="Aptos"/>
              </a:rPr>
              <a:t>02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20"/>
          <p:cNvSpPr/>
          <p:nvPr/>
        </p:nvSpPr>
        <p:spPr>
          <a:xfrm>
            <a:off x="9829800" y="6455520"/>
            <a:ext cx="20566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8F949A"/>
                </a:solidFill>
                <a:effectLst/>
                <a:uFillTx/>
                <a:latin typeface="IBM Plex Sans"/>
                <a:ea typeface="Aptos"/>
              </a:rPr>
              <a:t>BLOODHOUND-KUBE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21"/>
          <p:cNvSpPr/>
          <p:nvPr/>
        </p:nvSpPr>
        <p:spPr>
          <a:xfrm>
            <a:off x="576000" y="384120"/>
            <a:ext cx="71316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2F3F5"/>
                </a:solidFill>
                <a:effectLst/>
                <a:uFillTx/>
                <a:latin typeface="IBM Plex Sans"/>
                <a:ea typeface="Aptos Display"/>
              </a:rPr>
              <a:t>~# whoami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22"/>
          <p:cNvSpPr/>
          <p:nvPr/>
        </p:nvSpPr>
        <p:spPr>
          <a:xfrm>
            <a:off x="576000" y="932400"/>
            <a:ext cx="914400" cy="360"/>
          </a:xfrm>
          <a:prstGeom prst="line">
            <a:avLst/>
          </a:prstGeom>
          <a:ln w="27940">
            <a:solidFill>
              <a:srgbClr val="E539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24"/>
          <p:cNvSpPr/>
          <p:nvPr/>
        </p:nvSpPr>
        <p:spPr>
          <a:xfrm>
            <a:off x="649800" y="1435680"/>
            <a:ext cx="16380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25"/>
          <p:cNvSpPr/>
          <p:nvPr/>
        </p:nvSpPr>
        <p:spPr>
          <a:xfrm>
            <a:off x="555840" y="1024200"/>
            <a:ext cx="6649200" cy="57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2100" b="0" u="none" strike="noStrike">
                <a:solidFill>
                  <a:srgbClr val="D4D6DA"/>
                </a:solidFill>
                <a:effectLst/>
                <a:uFillTx/>
                <a:latin typeface="IBM Plex Sans"/>
                <a:ea typeface="Aptos"/>
              </a:rPr>
              <a:t>pentester | homelab nerd | semi-professional debugger</a:t>
            </a:r>
            <a:r>
              <a:rPr lang="en-US" sz="2100" b="0" u="none" strike="noStrike">
                <a:solidFill>
                  <a:srgbClr val="E53935"/>
                </a:solidFill>
                <a:effectLst/>
                <a:uFillTx/>
                <a:latin typeface="IBM Plex Sans"/>
                <a:ea typeface="Aptos"/>
              </a:rPr>
              <a:t> </a:t>
            </a:r>
            <a:r>
              <a:rPr lang="en-US" sz="2100" b="0" u="none" strike="noStrike">
                <a:solidFill>
                  <a:srgbClr val="D4D6DA"/>
                </a:solidFill>
                <a:effectLst/>
                <a:uFillTx/>
                <a:latin typeface="IBM Plex Sans"/>
                <a:ea typeface="Aptos"/>
              </a:rPr>
              <a:t>of skill issues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32"/>
          <p:cNvSpPr/>
          <p:nvPr/>
        </p:nvSpPr>
        <p:spPr>
          <a:xfrm>
            <a:off x="685800" y="3218760"/>
            <a:ext cx="16380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1" name=""/>
          <p:cNvPicPr/>
          <p:nvPr/>
        </p:nvPicPr>
        <p:blipFill>
          <a:blip r:embed="rId1"/>
          <a:stretch/>
        </p:blipFill>
        <p:spPr>
          <a:xfrm rot="4200">
            <a:off x="8400960" y="968760"/>
            <a:ext cx="3194640" cy="4789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" name=""/>
          <p:cNvSpPr txBox="1"/>
          <p:nvPr/>
        </p:nvSpPr>
        <p:spPr>
          <a:xfrm>
            <a:off x="510840" y="2143080"/>
            <a:ext cx="4822920" cy="2328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2600" b="0" u="none" strike="noStrike">
                <a:solidFill>
                  <a:srgbClr val="D4D6DA"/>
                </a:solidFill>
                <a:effectLst/>
                <a:uFillTx/>
                <a:latin typeface="Arial"/>
              </a:rPr>
              <a:t>Don Cowan</a:t>
            </a:r>
            <a:endParaRPr lang="en-US" sz="2600" b="0" u="none" strike="noStrike">
              <a:solidFill>
                <a:srgbClr val="D4D6DA"/>
              </a:solidFill>
              <a:effectLst/>
              <a:uFillTx/>
              <a:latin typeface="Arial"/>
            </a:endParaRPr>
          </a:p>
          <a:p>
            <a:r>
              <a:rPr lang="en-US" sz="2600" b="0" u="none" strike="noStrike">
                <a:solidFill>
                  <a:srgbClr val="D4D6DA"/>
                </a:solidFill>
                <a:effectLst/>
                <a:uFillTx/>
                <a:latin typeface="Arial"/>
              </a:rPr>
              <a:t>@HackinAhab</a:t>
            </a:r>
            <a:endParaRPr lang="en-US" sz="2600" b="0" u="none" strike="noStrike">
              <a:solidFill>
                <a:srgbClr val="D4D6DA"/>
              </a:solidFill>
              <a:effectLst/>
              <a:uFillTx/>
              <a:latin typeface="Arial"/>
            </a:endParaRPr>
          </a:p>
          <a:p>
            <a:r>
              <a:rPr lang="en-US" sz="2600" b="0" u="none" strike="noStrike">
                <a:solidFill>
                  <a:srgbClr val="D4D6DA"/>
                </a:solidFill>
                <a:effectLst/>
                <a:uFillTx/>
                <a:latin typeface="Arial"/>
              </a:rPr>
              <a:t>https://ahab.dev/card</a:t>
            </a:r>
            <a:endParaRPr lang="en-US" sz="2600" b="0" u="none" strike="noStrike">
              <a:solidFill>
                <a:srgbClr val="D4D6DA"/>
              </a:solidFill>
              <a:effectLst/>
              <a:uFillTx/>
              <a:latin typeface="Arial"/>
            </a:endParaRPr>
          </a:p>
        </p:txBody>
      </p:sp>
      <p:pic>
        <p:nvPicPr>
          <p:cNvPr id="43" name=""/>
          <p:cNvPicPr/>
          <p:nvPr/>
        </p:nvPicPr>
        <p:blipFill>
          <a:blip r:embed="rId2"/>
          <a:stretch/>
        </p:blipFill>
        <p:spPr>
          <a:xfrm>
            <a:off x="627840" y="3495960"/>
            <a:ext cx="2991600" cy="2991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20"/>
          <p:cNvSpPr/>
          <p:nvPr/>
        </p:nvSpPr>
        <p:spPr>
          <a:xfrm>
            <a:off x="18360" y="18360"/>
            <a:ext cx="12154320" cy="6820560"/>
          </a:xfrm>
          <a:prstGeom prst="rect">
            <a:avLst/>
          </a:prstGeom>
          <a:noFill/>
          <a:ln w="15240">
            <a:solidFill>
              <a:srgbClr val="1E2024">
                <a:alpha val="9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21"/>
          <p:cNvSpPr/>
          <p:nvPr/>
        </p:nvSpPr>
        <p:spPr>
          <a:xfrm flipH="1">
            <a:off x="438912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23"/>
          <p:cNvSpPr/>
          <p:nvPr/>
        </p:nvSpPr>
        <p:spPr>
          <a:xfrm flipH="1">
            <a:off x="498348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28"/>
          <p:cNvSpPr/>
          <p:nvPr/>
        </p:nvSpPr>
        <p:spPr>
          <a:xfrm flipH="1">
            <a:off x="557784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30"/>
          <p:cNvSpPr/>
          <p:nvPr/>
        </p:nvSpPr>
        <p:spPr>
          <a:xfrm flipH="1">
            <a:off x="617220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47"/>
          <p:cNvSpPr/>
          <p:nvPr/>
        </p:nvSpPr>
        <p:spPr>
          <a:xfrm flipH="1">
            <a:off x="676656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48"/>
          <p:cNvSpPr/>
          <p:nvPr/>
        </p:nvSpPr>
        <p:spPr>
          <a:xfrm flipH="1">
            <a:off x="736092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49"/>
          <p:cNvSpPr/>
          <p:nvPr/>
        </p:nvSpPr>
        <p:spPr>
          <a:xfrm flipH="1">
            <a:off x="795528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50"/>
          <p:cNvSpPr/>
          <p:nvPr/>
        </p:nvSpPr>
        <p:spPr>
          <a:xfrm flipH="1">
            <a:off x="854964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51"/>
          <p:cNvSpPr/>
          <p:nvPr/>
        </p:nvSpPr>
        <p:spPr>
          <a:xfrm flipH="1">
            <a:off x="914400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6949440" y="64008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6949440" y="137160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6949440" y="210312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6949440" y="283464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6949440" y="356616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6949440" y="429768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6949440" y="502920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3200400" y="160020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1"/>
          <p:cNvSpPr/>
          <p:nvPr/>
        </p:nvSpPr>
        <p:spPr>
          <a:xfrm>
            <a:off x="255960" y="6455520"/>
            <a:ext cx="41076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8F949A"/>
                </a:solidFill>
                <a:effectLst/>
                <a:uFillTx/>
                <a:latin typeface="IBM Plex Sans"/>
                <a:ea typeface="Aptos"/>
              </a:rPr>
              <a:t>03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2"/>
          <p:cNvSpPr/>
          <p:nvPr/>
        </p:nvSpPr>
        <p:spPr>
          <a:xfrm>
            <a:off x="9829800" y="6455520"/>
            <a:ext cx="20566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8F949A"/>
                </a:solidFill>
                <a:effectLst/>
                <a:uFillTx/>
                <a:latin typeface="IBM Plex Sans"/>
                <a:ea typeface="Aptos"/>
              </a:rPr>
              <a:t>BLOODHOUND-KUBE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3"/>
          <p:cNvSpPr/>
          <p:nvPr/>
        </p:nvSpPr>
        <p:spPr>
          <a:xfrm>
            <a:off x="576000" y="384120"/>
            <a:ext cx="71316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2F3F5"/>
                </a:solidFill>
                <a:effectLst/>
                <a:uFillTx/>
                <a:latin typeface="IBM Plex Sans"/>
                <a:ea typeface="Aptos Display"/>
              </a:rPr>
              <a:t>Kubernetes relationship problems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60"/>
          <p:cNvSpPr/>
          <p:nvPr/>
        </p:nvSpPr>
        <p:spPr>
          <a:xfrm>
            <a:off x="576000" y="932400"/>
            <a:ext cx="914400" cy="360"/>
          </a:xfrm>
          <a:prstGeom prst="line">
            <a:avLst/>
          </a:prstGeom>
          <a:ln w="27940">
            <a:solidFill>
              <a:srgbClr val="E539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4"/>
          <p:cNvSpPr/>
          <p:nvPr/>
        </p:nvSpPr>
        <p:spPr>
          <a:xfrm>
            <a:off x="1627560" y="896040"/>
            <a:ext cx="896040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A6AAB0"/>
                </a:solidFill>
                <a:effectLst/>
                <a:uFillTx/>
                <a:latin typeface="IBM Plex Sans"/>
                <a:ea typeface="Aptos"/>
              </a:rPr>
              <a:t>A cluster is not just one permission system; it is many relationships stacked together.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5"/>
          <p:cNvSpPr/>
          <p:nvPr/>
        </p:nvSpPr>
        <p:spPr>
          <a:xfrm>
            <a:off x="685800" y="1435680"/>
            <a:ext cx="16380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6"/>
          <p:cNvSpPr/>
          <p:nvPr/>
        </p:nvSpPr>
        <p:spPr>
          <a:xfrm>
            <a:off x="280080" y="1367280"/>
            <a:ext cx="11607120" cy="495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E53935"/>
                </a:solidFill>
                <a:effectLst/>
                <a:uFillTx/>
                <a:latin typeface="IBM Plex Sans"/>
                <a:ea typeface="Aptos"/>
              </a:rPr>
              <a:t>• </a:t>
            </a:r>
            <a:r>
              <a:rPr lang="en-US" sz="2400" b="0" u="none" strike="noStrike">
                <a:solidFill>
                  <a:srgbClr val="D4D6DA"/>
                </a:solidFill>
                <a:effectLst/>
                <a:uFillTx/>
                <a:latin typeface="IBM Plex Sans"/>
                <a:ea typeface="Aptos"/>
              </a:rPr>
              <a:t>RBAC, service accounts, workloads, secrets, and namespaces interact in non-obvious ways.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2600" b="0" u="none" strike="noStrike">
                <a:solidFill>
                  <a:srgbClr val="E53935"/>
                </a:solidFill>
                <a:effectLst/>
                <a:uFillTx/>
                <a:latin typeface="IBM Plex Sans"/>
                <a:ea typeface="Aptos"/>
              </a:rPr>
              <a:t>•</a:t>
            </a:r>
            <a:r>
              <a:rPr lang="en-US" sz="2400" b="0" u="none" strike="noStrike">
                <a:solidFill>
                  <a:srgbClr val="D4D6DA"/>
                </a:solidFill>
                <a:effectLst/>
                <a:uFillTx/>
                <a:latin typeface="IBM Plex Sans"/>
                <a:ea typeface="Aptos"/>
              </a:rPr>
              <a:t> </a:t>
            </a:r>
            <a:r>
              <a:rPr lang="en-US" sz="2400" b="0" u="none" strike="noStrike">
                <a:solidFill>
                  <a:srgbClr val="D4D6DA"/>
                </a:solidFill>
                <a:effectLst/>
                <a:uFillTx/>
                <a:latin typeface="IBM Plex Sans"/>
                <a:ea typeface="IBM Plex Sans"/>
              </a:rPr>
              <a:t>A single permission often looks harmless until it is chained with workload behavior.</a:t>
            </a:r>
            <a:endParaRPr lang="en-US" sz="2400" b="0" u="none" strike="noStrike">
              <a:solidFill>
                <a:srgbClr val="E53935"/>
              </a:solidFill>
              <a:effectLst/>
              <a:uFillTx/>
              <a:latin typeface="IBM Plex Sans"/>
            </a:endParaRPr>
          </a:p>
          <a:p>
            <a:endParaRPr lang="en-US" sz="1400" b="0" u="none" strike="noStrike">
              <a:solidFill>
                <a:srgbClr val="E53935"/>
              </a:solidFill>
              <a:effectLst/>
              <a:uFillTx/>
              <a:latin typeface="IBM Plex Sans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u="none" strike="noStrike">
                <a:solidFill>
                  <a:srgbClr val="E53935"/>
                </a:solidFill>
                <a:effectLst/>
                <a:uFillTx/>
                <a:latin typeface="IBM Plex Sans"/>
                <a:ea typeface="Aptos"/>
              </a:rPr>
              <a:t>•</a:t>
            </a:r>
            <a:r>
              <a:rPr lang="en-US" sz="2400" b="0" u="none" strike="noStrike">
                <a:solidFill>
                  <a:srgbClr val="D4D6DA"/>
                </a:solidFill>
                <a:effectLst/>
                <a:uFillTx/>
                <a:latin typeface="IBM Plex Sans"/>
                <a:ea typeface="Aptos"/>
              </a:rPr>
              <a:t>kubectl and raw YAML don’t show multi-step reachability at scale.</a:t>
            </a:r>
            <a:endParaRPr lang="en-US" sz="2400" b="0" u="none" strike="noStrike">
              <a:solidFill>
                <a:srgbClr val="E53935"/>
              </a:solidFill>
              <a:effectLst/>
              <a:uFillTx/>
              <a:latin typeface="IBM Plex Sans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E53935"/>
              </a:solidFill>
              <a:effectLst/>
              <a:uFillTx/>
              <a:latin typeface="IBM Plex Sans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u="none" strike="noStrike">
                <a:solidFill>
                  <a:srgbClr val="E53935"/>
                </a:solidFill>
                <a:effectLst/>
                <a:uFillTx/>
                <a:latin typeface="IBM Plex Sans"/>
                <a:ea typeface="Aptos"/>
              </a:rPr>
              <a:t>•</a:t>
            </a:r>
            <a:r>
              <a:rPr lang="en-US" sz="2400" b="0" u="none" strike="noStrike">
                <a:solidFill>
                  <a:srgbClr val="D4D6DA"/>
                </a:solidFill>
                <a:effectLst/>
                <a:uFillTx/>
                <a:latin typeface="IBM Plex Sans"/>
                <a:ea typeface="Aptos"/>
              </a:rPr>
              <a:t>Penetration tests need fast answers to “what can this principal become?”</a:t>
            </a:r>
            <a:endParaRPr lang="en-US" sz="2400" b="0" u="none" strike="noStrike">
              <a:solidFill>
                <a:srgbClr val="E53935"/>
              </a:solidFill>
              <a:effectLst/>
              <a:uFillTx/>
              <a:latin typeface="IBM Plex Sans"/>
            </a:endParaRPr>
          </a:p>
        </p:txBody>
      </p:sp>
      <p:sp>
        <p:nvSpPr>
          <p:cNvPr id="69" name="Text 10"/>
          <p:cNvSpPr/>
          <p:nvPr/>
        </p:nvSpPr>
        <p:spPr>
          <a:xfrm>
            <a:off x="914400" y="2606040"/>
            <a:ext cx="4845600" cy="57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2"/>
          <p:cNvSpPr/>
          <p:nvPr/>
        </p:nvSpPr>
        <p:spPr>
          <a:xfrm>
            <a:off x="914400" y="3200400"/>
            <a:ext cx="4845600" cy="57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0"/>
          <p:cNvSpPr/>
          <p:nvPr/>
        </p:nvSpPr>
        <p:spPr>
          <a:xfrm>
            <a:off x="-18360" y="18360"/>
            <a:ext cx="12191040" cy="6857280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1"/>
          <p:cNvSpPr/>
          <p:nvPr/>
        </p:nvSpPr>
        <p:spPr>
          <a:xfrm>
            <a:off x="18360" y="18360"/>
            <a:ext cx="12154320" cy="6820560"/>
          </a:xfrm>
          <a:prstGeom prst="rect">
            <a:avLst/>
          </a:prstGeom>
          <a:noFill/>
          <a:ln w="15240">
            <a:solidFill>
              <a:srgbClr val="1E2024">
                <a:alpha val="9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2"/>
          <p:cNvSpPr/>
          <p:nvPr/>
        </p:nvSpPr>
        <p:spPr>
          <a:xfrm flipH="1">
            <a:off x="438912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3"/>
          <p:cNvSpPr/>
          <p:nvPr/>
        </p:nvSpPr>
        <p:spPr>
          <a:xfrm flipH="1">
            <a:off x="498348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4"/>
          <p:cNvSpPr/>
          <p:nvPr/>
        </p:nvSpPr>
        <p:spPr>
          <a:xfrm flipH="1">
            <a:off x="557784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5"/>
          <p:cNvSpPr/>
          <p:nvPr/>
        </p:nvSpPr>
        <p:spPr>
          <a:xfrm flipH="1">
            <a:off x="617220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6"/>
          <p:cNvSpPr/>
          <p:nvPr/>
        </p:nvSpPr>
        <p:spPr>
          <a:xfrm flipH="1">
            <a:off x="676656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7"/>
          <p:cNvSpPr/>
          <p:nvPr/>
        </p:nvSpPr>
        <p:spPr>
          <a:xfrm flipH="1">
            <a:off x="736092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8"/>
          <p:cNvSpPr/>
          <p:nvPr/>
        </p:nvSpPr>
        <p:spPr>
          <a:xfrm flipH="1">
            <a:off x="795528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9"/>
          <p:cNvSpPr/>
          <p:nvPr/>
        </p:nvSpPr>
        <p:spPr>
          <a:xfrm flipH="1">
            <a:off x="854964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10"/>
          <p:cNvSpPr/>
          <p:nvPr/>
        </p:nvSpPr>
        <p:spPr>
          <a:xfrm flipH="1">
            <a:off x="914400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11"/>
          <p:cNvSpPr/>
          <p:nvPr/>
        </p:nvSpPr>
        <p:spPr>
          <a:xfrm>
            <a:off x="6949440" y="64008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12"/>
          <p:cNvSpPr/>
          <p:nvPr/>
        </p:nvSpPr>
        <p:spPr>
          <a:xfrm>
            <a:off x="6949440" y="137160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13"/>
          <p:cNvSpPr/>
          <p:nvPr/>
        </p:nvSpPr>
        <p:spPr>
          <a:xfrm>
            <a:off x="6949440" y="210312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14"/>
          <p:cNvSpPr/>
          <p:nvPr/>
        </p:nvSpPr>
        <p:spPr>
          <a:xfrm>
            <a:off x="6949440" y="283464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15"/>
          <p:cNvSpPr/>
          <p:nvPr/>
        </p:nvSpPr>
        <p:spPr>
          <a:xfrm>
            <a:off x="6949440" y="356616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16"/>
          <p:cNvSpPr/>
          <p:nvPr/>
        </p:nvSpPr>
        <p:spPr>
          <a:xfrm>
            <a:off x="6949440" y="429768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17"/>
          <p:cNvSpPr/>
          <p:nvPr/>
        </p:nvSpPr>
        <p:spPr>
          <a:xfrm>
            <a:off x="6949440" y="502920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18"/>
          <p:cNvSpPr/>
          <p:nvPr/>
        </p:nvSpPr>
        <p:spPr>
          <a:xfrm>
            <a:off x="6949440" y="576072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9"/>
          <p:cNvSpPr/>
          <p:nvPr/>
        </p:nvSpPr>
        <p:spPr>
          <a:xfrm>
            <a:off x="255960" y="6455520"/>
            <a:ext cx="41076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8F949A"/>
                </a:solidFill>
                <a:effectLst/>
                <a:uFillTx/>
                <a:latin typeface="IBM Plex Sans"/>
                <a:ea typeface="Aptos"/>
              </a:rPr>
              <a:t>04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20"/>
          <p:cNvSpPr/>
          <p:nvPr/>
        </p:nvSpPr>
        <p:spPr>
          <a:xfrm>
            <a:off x="9829800" y="6455520"/>
            <a:ext cx="20566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8F949A"/>
                </a:solidFill>
                <a:effectLst/>
                <a:uFillTx/>
                <a:latin typeface="IBM Plex Sans"/>
                <a:ea typeface="Aptos"/>
              </a:rPr>
              <a:t>BLOODHOUND-KUBE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21"/>
          <p:cNvSpPr/>
          <p:nvPr/>
        </p:nvSpPr>
        <p:spPr>
          <a:xfrm>
            <a:off x="576000" y="384120"/>
            <a:ext cx="71316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2F3F5"/>
                </a:solidFill>
                <a:effectLst/>
                <a:uFillTx/>
                <a:latin typeface="IBM Plex Sans"/>
                <a:ea typeface="Aptos Display"/>
              </a:rPr>
              <a:t>What is BloodHound-Kube?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22"/>
          <p:cNvSpPr/>
          <p:nvPr/>
        </p:nvSpPr>
        <p:spPr>
          <a:xfrm>
            <a:off x="576000" y="932400"/>
            <a:ext cx="914400" cy="360"/>
          </a:xfrm>
          <a:prstGeom prst="line">
            <a:avLst/>
          </a:prstGeom>
          <a:ln w="27940">
            <a:solidFill>
              <a:srgbClr val="E539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24"/>
          <p:cNvSpPr/>
          <p:nvPr/>
        </p:nvSpPr>
        <p:spPr>
          <a:xfrm>
            <a:off x="1280160" y="1508760"/>
            <a:ext cx="529560" cy="529560"/>
          </a:xfrm>
          <a:prstGeom prst="ellipse">
            <a:avLst/>
          </a:prstGeom>
          <a:solidFill>
            <a:srgbClr val="17191C"/>
          </a:solidFill>
          <a:ln w="15240">
            <a:solidFill>
              <a:srgbClr val="555A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2F3F5"/>
                </a:solidFill>
                <a:effectLst/>
                <a:uFillTx/>
                <a:latin typeface="IBM Plex Sans"/>
                <a:ea typeface="Aptos"/>
              </a:rPr>
              <a:t>1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25"/>
          <p:cNvSpPr/>
          <p:nvPr/>
        </p:nvSpPr>
        <p:spPr>
          <a:xfrm>
            <a:off x="713160" y="2258640"/>
            <a:ext cx="166356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2F3F5"/>
                </a:solidFill>
                <a:effectLst/>
                <a:uFillTx/>
                <a:latin typeface="IBM Plex Sans"/>
                <a:ea typeface="Aptos"/>
              </a:rPr>
              <a:t>Collect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26"/>
          <p:cNvSpPr/>
          <p:nvPr/>
        </p:nvSpPr>
        <p:spPr>
          <a:xfrm>
            <a:off x="713160" y="2633400"/>
            <a:ext cx="1752120" cy="119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A6AAB0"/>
                </a:solidFill>
                <a:effectLst/>
                <a:uFillTx/>
                <a:latin typeface="IBM Plex Sans"/>
                <a:ea typeface="Aptos"/>
              </a:rPr>
              <a:t>Gather Kubernetes objects via API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27"/>
          <p:cNvSpPr/>
          <p:nvPr/>
        </p:nvSpPr>
        <p:spPr>
          <a:xfrm>
            <a:off x="2404800" y="1773720"/>
            <a:ext cx="941760" cy="360"/>
          </a:xfrm>
          <a:prstGeom prst="line">
            <a:avLst/>
          </a:prstGeom>
          <a:ln w="15240">
            <a:solidFill>
              <a:srgbClr val="555A6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28"/>
          <p:cNvSpPr/>
          <p:nvPr/>
        </p:nvSpPr>
        <p:spPr>
          <a:xfrm>
            <a:off x="4060080" y="1508760"/>
            <a:ext cx="529560" cy="529560"/>
          </a:xfrm>
          <a:prstGeom prst="ellipse">
            <a:avLst/>
          </a:prstGeom>
          <a:solidFill>
            <a:srgbClr val="17191C"/>
          </a:solidFill>
          <a:ln w="15240">
            <a:solidFill>
              <a:srgbClr val="555A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2F3F5"/>
                </a:solidFill>
                <a:effectLst/>
                <a:uFillTx/>
                <a:latin typeface="IBM Plex Sans"/>
                <a:ea typeface="Aptos"/>
              </a:rPr>
              <a:t>2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29"/>
          <p:cNvSpPr/>
          <p:nvPr/>
        </p:nvSpPr>
        <p:spPr>
          <a:xfrm>
            <a:off x="3493080" y="2258640"/>
            <a:ext cx="166356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2F3F5"/>
                </a:solidFill>
                <a:effectLst/>
                <a:uFillTx/>
                <a:latin typeface="IBM Plex Sans"/>
                <a:ea typeface="Aptos"/>
              </a:rPr>
              <a:t>Parse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30"/>
          <p:cNvSpPr/>
          <p:nvPr/>
        </p:nvSpPr>
        <p:spPr>
          <a:xfrm>
            <a:off x="3221640" y="2633400"/>
            <a:ext cx="2266560" cy="12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A6AAB0"/>
                </a:solidFill>
                <a:effectLst/>
                <a:uFillTx/>
                <a:latin typeface="IBM Plex Sans"/>
                <a:ea typeface="Aptos"/>
              </a:rPr>
              <a:t>Build nodes, edges, and properties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31"/>
          <p:cNvSpPr/>
          <p:nvPr/>
        </p:nvSpPr>
        <p:spPr>
          <a:xfrm>
            <a:off x="5184360" y="1773720"/>
            <a:ext cx="942120" cy="360"/>
          </a:xfrm>
          <a:prstGeom prst="line">
            <a:avLst/>
          </a:prstGeom>
          <a:ln w="15240">
            <a:solidFill>
              <a:srgbClr val="555A6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32"/>
          <p:cNvSpPr/>
          <p:nvPr/>
        </p:nvSpPr>
        <p:spPr>
          <a:xfrm>
            <a:off x="6839640" y="1508760"/>
            <a:ext cx="529560" cy="529560"/>
          </a:xfrm>
          <a:prstGeom prst="ellipse">
            <a:avLst/>
          </a:prstGeom>
          <a:solidFill>
            <a:srgbClr val="17191C"/>
          </a:solidFill>
          <a:ln w="15240">
            <a:solidFill>
              <a:srgbClr val="555A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2F3F5"/>
                </a:solidFill>
                <a:effectLst/>
                <a:uFillTx/>
                <a:latin typeface="IBM Plex Sans"/>
                <a:ea typeface="Aptos"/>
              </a:rPr>
              <a:t>3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33"/>
          <p:cNvSpPr/>
          <p:nvPr/>
        </p:nvSpPr>
        <p:spPr>
          <a:xfrm>
            <a:off x="6272640" y="2258640"/>
            <a:ext cx="166356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2F3F5"/>
                </a:solidFill>
                <a:effectLst/>
                <a:uFillTx/>
                <a:latin typeface="IBM Plex Sans"/>
                <a:ea typeface="Aptos"/>
              </a:rPr>
              <a:t>Output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34"/>
          <p:cNvSpPr/>
          <p:nvPr/>
        </p:nvSpPr>
        <p:spPr>
          <a:xfrm>
            <a:off x="6073560" y="2599920"/>
            <a:ext cx="2017080" cy="150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A6AAB0"/>
                </a:solidFill>
                <a:effectLst/>
                <a:uFillTx/>
                <a:latin typeface="IBM Plex Sans"/>
                <a:ea typeface="Aptos"/>
              </a:rPr>
              <a:t>Generate BloodHound OpenGraph JSON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35"/>
          <p:cNvSpPr/>
          <p:nvPr/>
        </p:nvSpPr>
        <p:spPr>
          <a:xfrm>
            <a:off x="7964280" y="1773720"/>
            <a:ext cx="941760" cy="360"/>
          </a:xfrm>
          <a:prstGeom prst="line">
            <a:avLst/>
          </a:prstGeom>
          <a:ln w="25400">
            <a:solidFill>
              <a:srgbClr val="E5393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36"/>
          <p:cNvSpPr/>
          <p:nvPr/>
        </p:nvSpPr>
        <p:spPr>
          <a:xfrm>
            <a:off x="9619560" y="1508760"/>
            <a:ext cx="529560" cy="529560"/>
          </a:xfrm>
          <a:prstGeom prst="ellipse">
            <a:avLst/>
          </a:prstGeom>
          <a:solidFill>
            <a:srgbClr val="3A1111"/>
          </a:solidFill>
          <a:ln w="15240">
            <a:solidFill>
              <a:srgbClr val="E539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2F3F5"/>
                </a:solidFill>
                <a:effectLst/>
                <a:uFillTx/>
                <a:latin typeface="IBM Plex Sans"/>
                <a:ea typeface="Aptos"/>
              </a:rPr>
              <a:t>4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37"/>
          <p:cNvSpPr/>
          <p:nvPr/>
        </p:nvSpPr>
        <p:spPr>
          <a:xfrm>
            <a:off x="9052560" y="2258640"/>
            <a:ext cx="166356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2F3F5"/>
                </a:solidFill>
                <a:effectLst/>
                <a:uFillTx/>
                <a:latin typeface="IBM Plex Sans"/>
                <a:ea typeface="Aptos"/>
              </a:rPr>
              <a:t>Explore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38"/>
          <p:cNvSpPr/>
          <p:nvPr/>
        </p:nvSpPr>
        <p:spPr>
          <a:xfrm>
            <a:off x="9052560" y="2633400"/>
            <a:ext cx="1659960" cy="14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A6AAB0"/>
                </a:solidFill>
                <a:effectLst/>
                <a:uFillTx/>
                <a:latin typeface="IBM Plex Sans"/>
                <a:ea typeface="Aptos"/>
              </a:rPr>
              <a:t>Import and investigate paths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39"/>
          <p:cNvSpPr/>
          <p:nvPr/>
        </p:nvSpPr>
        <p:spPr>
          <a:xfrm>
            <a:off x="777240" y="4224600"/>
            <a:ext cx="10624680" cy="1188000"/>
          </a:xfrm>
          <a:prstGeom prst="roundRect">
            <a:avLst>
              <a:gd name="adj" fmla="val 4615"/>
            </a:avLst>
          </a:prstGeom>
          <a:solidFill>
            <a:srgbClr val="070809"/>
          </a:solidFill>
          <a:ln w="12700">
            <a:solidFill>
              <a:srgbClr val="555A60">
                <a:alpha val="8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40"/>
          <p:cNvSpPr/>
          <p:nvPr/>
        </p:nvSpPr>
        <p:spPr>
          <a:xfrm>
            <a:off x="887040" y="4334400"/>
            <a:ext cx="1040508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7E7E7"/>
                </a:solidFill>
                <a:effectLst/>
                <a:uFillTx/>
                <a:latin typeface="IBM Plex Sans"/>
                <a:ea typeface="DejaVu Sans Mono"/>
              </a:rPr>
              <a:t># collect and parse using current kubeconfig/context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41"/>
          <p:cNvSpPr/>
          <p:nvPr/>
        </p:nvSpPr>
        <p:spPr>
          <a:xfrm>
            <a:off x="887040" y="4531680"/>
            <a:ext cx="1040508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7E7E7"/>
                </a:solidFill>
                <a:effectLst/>
                <a:uFillTx/>
                <a:latin typeface="IBM Plex Sans"/>
                <a:ea typeface="DejaVu Sans Mono"/>
              </a:rPr>
              <a:t>./bloodhound-kube collect --scope core --cluster demo --parsed-output demo.json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42"/>
          <p:cNvSpPr/>
          <p:nvPr/>
        </p:nvSpPr>
        <p:spPr>
          <a:xfrm>
            <a:off x="887040" y="4729320"/>
            <a:ext cx="1040508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47500" lnSpcReduction="19999"/>
          </a:bodyPr>
          <a:p>
            <a:endParaRPr lang="en-US" sz="1100" b="0" u="none" strike="noStrike">
              <a:solidFill>
                <a:schemeClr val="dk1"/>
              </a:solidFill>
              <a:effectLst/>
              <a:uFillTx/>
              <a:latin typeface="IBM Plex Sans"/>
            </a:endParaRPr>
          </a:p>
        </p:txBody>
      </p:sp>
      <p:sp>
        <p:nvSpPr>
          <p:cNvPr id="113" name="Text 43"/>
          <p:cNvSpPr/>
          <p:nvPr/>
        </p:nvSpPr>
        <p:spPr>
          <a:xfrm>
            <a:off x="887040" y="4926960"/>
            <a:ext cx="1040508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7E7E7"/>
                </a:solidFill>
                <a:effectLst/>
                <a:uFillTx/>
                <a:latin typeface="IBM Plex Sans"/>
                <a:ea typeface="DejaVu Sans Mono"/>
              </a:rPr>
              <a:t># optional: redact Secret data values while preserving key names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44"/>
          <p:cNvSpPr/>
          <p:nvPr/>
        </p:nvSpPr>
        <p:spPr>
          <a:xfrm>
            <a:off x="887040" y="5124240"/>
            <a:ext cx="1040508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7E7E7"/>
                </a:solidFill>
                <a:effectLst/>
                <a:uFillTx/>
                <a:latin typeface="IBM Plex Sans"/>
                <a:ea typeface="DejaVu Sans Mono"/>
              </a:rPr>
              <a:t>./bloodhound-kube collect --redacted --zip --output demo.jsonl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0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1"/>
          <p:cNvSpPr/>
          <p:nvPr/>
        </p:nvSpPr>
        <p:spPr>
          <a:xfrm>
            <a:off x="18360" y="18360"/>
            <a:ext cx="12154320" cy="6820560"/>
          </a:xfrm>
          <a:prstGeom prst="rect">
            <a:avLst/>
          </a:prstGeom>
          <a:noFill/>
          <a:ln w="15240">
            <a:solidFill>
              <a:srgbClr val="1E2024">
                <a:alpha val="9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2"/>
          <p:cNvSpPr/>
          <p:nvPr/>
        </p:nvSpPr>
        <p:spPr>
          <a:xfrm flipH="1">
            <a:off x="438912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3"/>
          <p:cNvSpPr/>
          <p:nvPr/>
        </p:nvSpPr>
        <p:spPr>
          <a:xfrm flipH="1">
            <a:off x="498348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4"/>
          <p:cNvSpPr/>
          <p:nvPr/>
        </p:nvSpPr>
        <p:spPr>
          <a:xfrm flipH="1">
            <a:off x="557784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5"/>
          <p:cNvSpPr/>
          <p:nvPr/>
        </p:nvSpPr>
        <p:spPr>
          <a:xfrm flipH="1">
            <a:off x="617220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6"/>
          <p:cNvSpPr/>
          <p:nvPr/>
        </p:nvSpPr>
        <p:spPr>
          <a:xfrm flipH="1">
            <a:off x="676656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7"/>
          <p:cNvSpPr/>
          <p:nvPr/>
        </p:nvSpPr>
        <p:spPr>
          <a:xfrm flipH="1">
            <a:off x="736092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8"/>
          <p:cNvSpPr/>
          <p:nvPr/>
        </p:nvSpPr>
        <p:spPr>
          <a:xfrm flipH="1">
            <a:off x="795528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9"/>
          <p:cNvSpPr/>
          <p:nvPr/>
        </p:nvSpPr>
        <p:spPr>
          <a:xfrm flipH="1">
            <a:off x="854964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10"/>
          <p:cNvSpPr/>
          <p:nvPr/>
        </p:nvSpPr>
        <p:spPr>
          <a:xfrm flipH="1">
            <a:off x="914400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11"/>
          <p:cNvSpPr/>
          <p:nvPr/>
        </p:nvSpPr>
        <p:spPr>
          <a:xfrm>
            <a:off x="6949440" y="64008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12"/>
          <p:cNvSpPr/>
          <p:nvPr/>
        </p:nvSpPr>
        <p:spPr>
          <a:xfrm>
            <a:off x="6949440" y="137160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13"/>
          <p:cNvSpPr/>
          <p:nvPr/>
        </p:nvSpPr>
        <p:spPr>
          <a:xfrm>
            <a:off x="6949440" y="210312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14"/>
          <p:cNvSpPr/>
          <p:nvPr/>
        </p:nvSpPr>
        <p:spPr>
          <a:xfrm>
            <a:off x="6949440" y="283464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15"/>
          <p:cNvSpPr/>
          <p:nvPr/>
        </p:nvSpPr>
        <p:spPr>
          <a:xfrm>
            <a:off x="6949440" y="356616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16"/>
          <p:cNvSpPr/>
          <p:nvPr/>
        </p:nvSpPr>
        <p:spPr>
          <a:xfrm>
            <a:off x="6949440" y="429768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17"/>
          <p:cNvSpPr/>
          <p:nvPr/>
        </p:nvSpPr>
        <p:spPr>
          <a:xfrm>
            <a:off x="6949440" y="502920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18"/>
          <p:cNvSpPr/>
          <p:nvPr/>
        </p:nvSpPr>
        <p:spPr>
          <a:xfrm>
            <a:off x="6949440" y="576072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19"/>
          <p:cNvSpPr/>
          <p:nvPr/>
        </p:nvSpPr>
        <p:spPr>
          <a:xfrm>
            <a:off x="255960" y="6455520"/>
            <a:ext cx="41076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8F949A"/>
                </a:solidFill>
                <a:effectLst/>
                <a:uFillTx/>
                <a:latin typeface="IBM Plex Sans"/>
                <a:ea typeface="Aptos"/>
              </a:rPr>
              <a:t>05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20"/>
          <p:cNvSpPr/>
          <p:nvPr/>
        </p:nvSpPr>
        <p:spPr>
          <a:xfrm>
            <a:off x="9829800" y="6455520"/>
            <a:ext cx="20566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8F949A"/>
                </a:solidFill>
                <a:effectLst/>
                <a:uFillTx/>
                <a:latin typeface="IBM Plex Sans"/>
                <a:ea typeface="Aptos"/>
              </a:rPr>
              <a:t>BLOODHOUND-KUBE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21"/>
          <p:cNvSpPr/>
          <p:nvPr/>
        </p:nvSpPr>
        <p:spPr>
          <a:xfrm>
            <a:off x="576000" y="384120"/>
            <a:ext cx="71316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2F3F5"/>
                </a:solidFill>
                <a:effectLst/>
                <a:uFillTx/>
                <a:latin typeface="IBM Plex Sans"/>
                <a:ea typeface="Aptos Display"/>
              </a:rPr>
              <a:t>Demo time!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22"/>
          <p:cNvSpPr/>
          <p:nvPr/>
        </p:nvSpPr>
        <p:spPr>
          <a:xfrm>
            <a:off x="576000" y="932400"/>
            <a:ext cx="914400" cy="360"/>
          </a:xfrm>
          <a:prstGeom prst="line">
            <a:avLst/>
          </a:prstGeom>
          <a:ln w="27940">
            <a:solidFill>
              <a:srgbClr val="E539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24"/>
          <p:cNvSpPr/>
          <p:nvPr/>
        </p:nvSpPr>
        <p:spPr>
          <a:xfrm>
            <a:off x="850320" y="1325880"/>
            <a:ext cx="392400" cy="392400"/>
          </a:xfrm>
          <a:prstGeom prst="ellipse">
            <a:avLst/>
          </a:prstGeom>
          <a:solidFill>
            <a:srgbClr val="17191C"/>
          </a:solidFill>
          <a:ln w="15240">
            <a:solidFill>
              <a:srgbClr val="555A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2F3F5"/>
                </a:solidFill>
                <a:effectLst/>
                <a:uFillTx/>
                <a:latin typeface="IBM Plex Sans"/>
                <a:ea typeface="Aptos"/>
              </a:rPr>
              <a:t>1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25"/>
          <p:cNvSpPr/>
          <p:nvPr/>
        </p:nvSpPr>
        <p:spPr>
          <a:xfrm>
            <a:off x="1463040" y="1316880"/>
            <a:ext cx="39769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60" b="0" u="none" strike="noStrike">
                <a:solidFill>
                  <a:srgbClr val="D4D6DA"/>
                </a:solidFill>
                <a:effectLst/>
                <a:uFillTx/>
                <a:latin typeface="IBM Plex Sans"/>
                <a:ea typeface="Aptos"/>
              </a:rPr>
              <a:t>Build the binary.</a:t>
            </a:r>
            <a:endParaRPr lang="en-US" sz="13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26"/>
          <p:cNvSpPr/>
          <p:nvPr/>
        </p:nvSpPr>
        <p:spPr>
          <a:xfrm>
            <a:off x="850320" y="2075760"/>
            <a:ext cx="392400" cy="392400"/>
          </a:xfrm>
          <a:prstGeom prst="ellipse">
            <a:avLst/>
          </a:prstGeom>
          <a:solidFill>
            <a:srgbClr val="17191C"/>
          </a:solidFill>
          <a:ln w="15240">
            <a:solidFill>
              <a:srgbClr val="555A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2F3F5"/>
                </a:solidFill>
                <a:effectLst/>
                <a:uFillTx/>
                <a:latin typeface="IBM Plex Sans"/>
                <a:ea typeface="Aptos"/>
              </a:rPr>
              <a:t>2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27"/>
          <p:cNvSpPr/>
          <p:nvPr/>
        </p:nvSpPr>
        <p:spPr>
          <a:xfrm>
            <a:off x="1463040" y="2066400"/>
            <a:ext cx="39769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60" b="0" u="none" strike="noStrike">
                <a:solidFill>
                  <a:srgbClr val="D4D6DA"/>
                </a:solidFill>
                <a:effectLst/>
                <a:uFillTx/>
                <a:latin typeface="IBM Plex Sans"/>
                <a:ea typeface="Aptos"/>
              </a:rPr>
              <a:t>Run collection against the demo context.</a:t>
            </a:r>
            <a:endParaRPr lang="en-US" sz="13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28"/>
          <p:cNvSpPr/>
          <p:nvPr/>
        </p:nvSpPr>
        <p:spPr>
          <a:xfrm>
            <a:off x="850320" y="2825640"/>
            <a:ext cx="392400" cy="392400"/>
          </a:xfrm>
          <a:prstGeom prst="ellipse">
            <a:avLst/>
          </a:prstGeom>
          <a:solidFill>
            <a:srgbClr val="17191C"/>
          </a:solidFill>
          <a:ln w="15240">
            <a:solidFill>
              <a:srgbClr val="555A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2F3F5"/>
                </a:solidFill>
                <a:effectLst/>
                <a:uFillTx/>
                <a:latin typeface="IBM Plex Sans"/>
                <a:ea typeface="Aptos"/>
              </a:rPr>
              <a:t>3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29"/>
          <p:cNvSpPr/>
          <p:nvPr/>
        </p:nvSpPr>
        <p:spPr>
          <a:xfrm>
            <a:off x="1463040" y="2816280"/>
            <a:ext cx="39769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60" b="0" u="none" strike="noStrike">
                <a:solidFill>
                  <a:srgbClr val="D4D6DA"/>
                </a:solidFill>
                <a:effectLst/>
                <a:uFillTx/>
                <a:latin typeface="IBM Plex Sans"/>
                <a:ea typeface="Aptos"/>
              </a:rPr>
              <a:t>Upload or import the OpenGraph data.</a:t>
            </a:r>
            <a:endParaRPr lang="en-US" sz="13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30"/>
          <p:cNvSpPr/>
          <p:nvPr/>
        </p:nvSpPr>
        <p:spPr>
          <a:xfrm>
            <a:off x="850320" y="3575160"/>
            <a:ext cx="392400" cy="392400"/>
          </a:xfrm>
          <a:prstGeom prst="ellipse">
            <a:avLst/>
          </a:prstGeom>
          <a:solidFill>
            <a:srgbClr val="3A1111"/>
          </a:solidFill>
          <a:ln w="15240">
            <a:solidFill>
              <a:srgbClr val="E539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2F3F5"/>
                </a:solidFill>
                <a:effectLst/>
                <a:uFillTx/>
                <a:latin typeface="IBM Plex Sans"/>
                <a:ea typeface="Aptos"/>
              </a:rPr>
              <a:t>4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31"/>
          <p:cNvSpPr/>
          <p:nvPr/>
        </p:nvSpPr>
        <p:spPr>
          <a:xfrm>
            <a:off x="1463040" y="3566160"/>
            <a:ext cx="39769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60" b="0" u="none" strike="noStrike">
                <a:solidFill>
                  <a:srgbClr val="D4D6DA"/>
                </a:solidFill>
                <a:effectLst/>
                <a:uFillTx/>
                <a:latin typeface="IBM Plex Sans"/>
                <a:ea typeface="Aptos"/>
              </a:rPr>
              <a:t>Run prepared Kubernetes path queries.</a:t>
            </a:r>
            <a:endParaRPr lang="en-US" sz="13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32"/>
          <p:cNvSpPr/>
          <p:nvPr/>
        </p:nvSpPr>
        <p:spPr>
          <a:xfrm>
            <a:off x="850320" y="4325040"/>
            <a:ext cx="392400" cy="392400"/>
          </a:xfrm>
          <a:prstGeom prst="ellipse">
            <a:avLst/>
          </a:prstGeom>
          <a:solidFill>
            <a:srgbClr val="3A1111"/>
          </a:solidFill>
          <a:ln w="15240">
            <a:solidFill>
              <a:srgbClr val="E539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2F3F5"/>
                </a:solidFill>
                <a:effectLst/>
                <a:uFillTx/>
                <a:latin typeface="IBM Plex Sans"/>
                <a:ea typeface="Aptos"/>
              </a:rPr>
              <a:t>5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33"/>
          <p:cNvSpPr/>
          <p:nvPr/>
        </p:nvSpPr>
        <p:spPr>
          <a:xfrm>
            <a:off x="1463040" y="4316040"/>
            <a:ext cx="39769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60" b="0" u="none" strike="noStrike">
                <a:solidFill>
                  <a:srgbClr val="D4D6DA"/>
                </a:solidFill>
                <a:effectLst/>
                <a:uFillTx/>
                <a:latin typeface="IBM Plex Sans"/>
                <a:ea typeface="Aptos"/>
              </a:rPr>
              <a:t>Explain one path</a:t>
            </a:r>
            <a:endParaRPr lang="en-US" sz="13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34"/>
          <p:cNvSpPr/>
          <p:nvPr/>
        </p:nvSpPr>
        <p:spPr>
          <a:xfrm>
            <a:off x="6126480" y="1280160"/>
            <a:ext cx="5165640" cy="4692600"/>
          </a:xfrm>
          <a:prstGeom prst="roundRect">
            <a:avLst>
              <a:gd name="adj" fmla="val 1967"/>
            </a:avLst>
          </a:prstGeom>
          <a:solidFill>
            <a:srgbClr val="070809"/>
          </a:solidFill>
          <a:ln w="12700">
            <a:solidFill>
              <a:srgbClr val="555A60">
                <a:alpha val="8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35"/>
          <p:cNvSpPr/>
          <p:nvPr/>
        </p:nvSpPr>
        <p:spPr>
          <a:xfrm>
            <a:off x="6236280" y="1389960"/>
            <a:ext cx="494604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7E7E7"/>
                </a:solidFill>
                <a:effectLst/>
                <a:uFillTx/>
                <a:latin typeface="IBM Plex Sans"/>
                <a:ea typeface="DejaVu Sans Mono"/>
              </a:rPr>
              <a:t># baseline check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36"/>
          <p:cNvSpPr/>
          <p:nvPr/>
        </p:nvSpPr>
        <p:spPr>
          <a:xfrm>
            <a:off x="6236280" y="1785240"/>
            <a:ext cx="4946040" cy="43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7E7E7"/>
                </a:solidFill>
                <a:effectLst/>
                <a:uFillTx/>
                <a:latin typeface="IBM Plex Sans"/>
                <a:ea typeface="DejaVu Sans Mono"/>
              </a:rPr>
              <a:t>go build -trimpath -ldflags "-s -w" -o bhk 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37"/>
          <p:cNvSpPr/>
          <p:nvPr/>
        </p:nvSpPr>
        <p:spPr>
          <a:xfrm>
            <a:off x="6236280" y="2036880"/>
            <a:ext cx="494604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77500" lnSpcReduction="19999"/>
          </a:bodyPr>
          <a:p>
            <a:endParaRPr lang="en-US" sz="920" b="0" u="none" strike="noStrike">
              <a:solidFill>
                <a:schemeClr val="dk1"/>
              </a:solidFill>
              <a:effectLst/>
              <a:uFillTx/>
              <a:latin typeface="IBM Plex Sans"/>
            </a:endParaRPr>
          </a:p>
        </p:txBody>
      </p:sp>
      <p:sp>
        <p:nvSpPr>
          <p:cNvPr id="152" name="Text 38"/>
          <p:cNvSpPr/>
          <p:nvPr/>
        </p:nvSpPr>
        <p:spPr>
          <a:xfrm>
            <a:off x="6236280" y="2360160"/>
            <a:ext cx="494604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7E7E7"/>
                </a:solidFill>
                <a:effectLst/>
                <a:uFillTx/>
                <a:latin typeface="IBM Plex Sans"/>
                <a:ea typeface="DejaVu Sans Mono"/>
              </a:rPr>
              <a:t># collect + parse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39"/>
          <p:cNvSpPr/>
          <p:nvPr/>
        </p:nvSpPr>
        <p:spPr>
          <a:xfrm>
            <a:off x="6236280" y="2683800"/>
            <a:ext cx="4946040" cy="55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7E7E7"/>
                </a:solidFill>
                <a:effectLst/>
                <a:uFillTx/>
                <a:latin typeface="IBM Plex Sans"/>
                <a:ea typeface="DejaVu Sans Mono"/>
              </a:rPr>
              <a:t>./bloodhound-kube collect --cluster live-demo --redacted --parsed-output live-demo.json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40"/>
          <p:cNvSpPr/>
          <p:nvPr/>
        </p:nvSpPr>
        <p:spPr>
          <a:xfrm>
            <a:off x="6236280" y="3007080"/>
            <a:ext cx="494604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77500" lnSpcReduction="19999"/>
          </a:bodyPr>
          <a:p>
            <a:endParaRPr lang="en-US" sz="920" b="0" u="none" strike="noStrike">
              <a:solidFill>
                <a:schemeClr val="dk1"/>
              </a:solidFill>
              <a:effectLst/>
              <a:uFillTx/>
              <a:latin typeface="IBM Plex Sans"/>
            </a:endParaRPr>
          </a:p>
        </p:txBody>
      </p:sp>
      <p:sp>
        <p:nvSpPr>
          <p:cNvPr id="155" name="Text 41"/>
          <p:cNvSpPr/>
          <p:nvPr/>
        </p:nvSpPr>
        <p:spPr>
          <a:xfrm>
            <a:off x="6236280" y="3330720"/>
            <a:ext cx="494604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7E7E7"/>
                </a:solidFill>
                <a:effectLst/>
                <a:uFillTx/>
                <a:latin typeface="IBM Plex Sans"/>
                <a:ea typeface="DejaVu Sans Mono"/>
              </a:rPr>
              <a:t># upload graph data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42"/>
          <p:cNvSpPr/>
          <p:nvPr/>
        </p:nvSpPr>
        <p:spPr>
          <a:xfrm>
            <a:off x="6236280" y="3654000"/>
            <a:ext cx="4946040" cy="52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7E7E7"/>
                </a:solidFill>
                <a:effectLst/>
                <a:uFillTx/>
                <a:latin typeface="IBM Plex Sans"/>
                <a:ea typeface="DejaVu Sans Mono"/>
              </a:rPr>
              <a:t>./bloodhound-kube upload --upload-file live-demo.json --token-id $BLOODHOUND_TOKEN_ID --token-key $BLOODHOUND_TOKEN_KEY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Shape 24"/>
          <p:cNvSpPr/>
          <p:nvPr/>
        </p:nvSpPr>
        <p:spPr>
          <a:xfrm>
            <a:off x="0" y="-11160"/>
            <a:ext cx="12191040" cy="6857280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25"/>
          <p:cNvSpPr/>
          <p:nvPr/>
        </p:nvSpPr>
        <p:spPr>
          <a:xfrm>
            <a:off x="18360" y="18360"/>
            <a:ext cx="12154320" cy="6820560"/>
          </a:xfrm>
          <a:prstGeom prst="rect">
            <a:avLst/>
          </a:prstGeom>
          <a:noFill/>
          <a:ln w="15240">
            <a:solidFill>
              <a:srgbClr val="1E2024">
                <a:alpha val="9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33"/>
          <p:cNvSpPr/>
          <p:nvPr/>
        </p:nvSpPr>
        <p:spPr>
          <a:xfrm flipH="1">
            <a:off x="438912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36"/>
          <p:cNvSpPr/>
          <p:nvPr/>
        </p:nvSpPr>
        <p:spPr>
          <a:xfrm flipH="1">
            <a:off x="498348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37"/>
          <p:cNvSpPr/>
          <p:nvPr/>
        </p:nvSpPr>
        <p:spPr>
          <a:xfrm flipH="1">
            <a:off x="557784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38"/>
          <p:cNvSpPr/>
          <p:nvPr/>
        </p:nvSpPr>
        <p:spPr>
          <a:xfrm flipH="1">
            <a:off x="617220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40"/>
          <p:cNvSpPr/>
          <p:nvPr/>
        </p:nvSpPr>
        <p:spPr>
          <a:xfrm flipH="1">
            <a:off x="676656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41"/>
          <p:cNvSpPr/>
          <p:nvPr/>
        </p:nvSpPr>
        <p:spPr>
          <a:xfrm flipH="1">
            <a:off x="736092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80"/>
          <p:cNvSpPr/>
          <p:nvPr/>
        </p:nvSpPr>
        <p:spPr>
          <a:xfrm flipH="1">
            <a:off x="795528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81"/>
          <p:cNvSpPr/>
          <p:nvPr/>
        </p:nvSpPr>
        <p:spPr>
          <a:xfrm flipH="1">
            <a:off x="854964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82"/>
          <p:cNvSpPr/>
          <p:nvPr/>
        </p:nvSpPr>
        <p:spPr>
          <a:xfrm flipH="1">
            <a:off x="914400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83"/>
          <p:cNvSpPr/>
          <p:nvPr/>
        </p:nvSpPr>
        <p:spPr>
          <a:xfrm>
            <a:off x="6949440" y="64008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84"/>
          <p:cNvSpPr/>
          <p:nvPr/>
        </p:nvSpPr>
        <p:spPr>
          <a:xfrm>
            <a:off x="6949440" y="137160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85"/>
          <p:cNvSpPr/>
          <p:nvPr/>
        </p:nvSpPr>
        <p:spPr>
          <a:xfrm>
            <a:off x="6949440" y="210312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86"/>
          <p:cNvSpPr/>
          <p:nvPr/>
        </p:nvSpPr>
        <p:spPr>
          <a:xfrm>
            <a:off x="6949440" y="283464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87"/>
          <p:cNvSpPr/>
          <p:nvPr/>
        </p:nvSpPr>
        <p:spPr>
          <a:xfrm>
            <a:off x="6949440" y="356616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88"/>
          <p:cNvSpPr/>
          <p:nvPr/>
        </p:nvSpPr>
        <p:spPr>
          <a:xfrm>
            <a:off x="6949440" y="429768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89"/>
          <p:cNvSpPr/>
          <p:nvPr/>
        </p:nvSpPr>
        <p:spPr>
          <a:xfrm>
            <a:off x="6949440" y="502920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90"/>
          <p:cNvSpPr/>
          <p:nvPr/>
        </p:nvSpPr>
        <p:spPr>
          <a:xfrm>
            <a:off x="6949440" y="576072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13"/>
          <p:cNvSpPr/>
          <p:nvPr/>
        </p:nvSpPr>
        <p:spPr>
          <a:xfrm>
            <a:off x="255960" y="6455520"/>
            <a:ext cx="41076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8F949A"/>
                </a:solidFill>
                <a:effectLst/>
                <a:uFillTx/>
                <a:latin typeface="IBM Plex Sans"/>
                <a:ea typeface="Aptos"/>
              </a:rPr>
              <a:t>06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14"/>
          <p:cNvSpPr/>
          <p:nvPr/>
        </p:nvSpPr>
        <p:spPr>
          <a:xfrm>
            <a:off x="9829800" y="6455520"/>
            <a:ext cx="20566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8F949A"/>
                </a:solidFill>
                <a:effectLst/>
                <a:uFillTx/>
                <a:latin typeface="IBM Plex Sans"/>
                <a:ea typeface="Aptos"/>
              </a:rPr>
              <a:t>BLOODHOUND-KUBE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15"/>
          <p:cNvSpPr/>
          <p:nvPr/>
        </p:nvSpPr>
        <p:spPr>
          <a:xfrm>
            <a:off x="576000" y="384120"/>
            <a:ext cx="71316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2F3F5"/>
                </a:solidFill>
                <a:effectLst/>
                <a:uFillTx/>
                <a:latin typeface="IBM Plex Sans"/>
                <a:ea typeface="Aptos Display"/>
              </a:rPr>
              <a:t>Demo Video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91"/>
          <p:cNvSpPr/>
          <p:nvPr/>
        </p:nvSpPr>
        <p:spPr>
          <a:xfrm>
            <a:off x="576000" y="932400"/>
            <a:ext cx="914400" cy="360"/>
          </a:xfrm>
          <a:prstGeom prst="line">
            <a:avLst/>
          </a:prstGeom>
          <a:ln w="27940">
            <a:solidFill>
              <a:srgbClr val="E539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Shape 0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1"/>
          <p:cNvSpPr/>
          <p:nvPr/>
        </p:nvSpPr>
        <p:spPr>
          <a:xfrm>
            <a:off x="18360" y="18360"/>
            <a:ext cx="12154320" cy="6820560"/>
          </a:xfrm>
          <a:prstGeom prst="rect">
            <a:avLst/>
          </a:prstGeom>
          <a:noFill/>
          <a:ln w="15240">
            <a:solidFill>
              <a:srgbClr val="1E2024">
                <a:alpha val="9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2"/>
          <p:cNvSpPr/>
          <p:nvPr/>
        </p:nvSpPr>
        <p:spPr>
          <a:xfrm flipH="1">
            <a:off x="438912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3"/>
          <p:cNvSpPr/>
          <p:nvPr/>
        </p:nvSpPr>
        <p:spPr>
          <a:xfrm flipH="1">
            <a:off x="498348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4"/>
          <p:cNvSpPr/>
          <p:nvPr/>
        </p:nvSpPr>
        <p:spPr>
          <a:xfrm flipH="1">
            <a:off x="557784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5"/>
          <p:cNvSpPr/>
          <p:nvPr/>
        </p:nvSpPr>
        <p:spPr>
          <a:xfrm flipH="1">
            <a:off x="617220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6"/>
          <p:cNvSpPr/>
          <p:nvPr/>
        </p:nvSpPr>
        <p:spPr>
          <a:xfrm flipH="1">
            <a:off x="676656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7"/>
          <p:cNvSpPr/>
          <p:nvPr/>
        </p:nvSpPr>
        <p:spPr>
          <a:xfrm flipH="1">
            <a:off x="736092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8"/>
          <p:cNvSpPr/>
          <p:nvPr/>
        </p:nvSpPr>
        <p:spPr>
          <a:xfrm flipH="1">
            <a:off x="795528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9"/>
          <p:cNvSpPr/>
          <p:nvPr/>
        </p:nvSpPr>
        <p:spPr>
          <a:xfrm flipH="1">
            <a:off x="854964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10"/>
          <p:cNvSpPr/>
          <p:nvPr/>
        </p:nvSpPr>
        <p:spPr>
          <a:xfrm flipH="1">
            <a:off x="914400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11"/>
          <p:cNvSpPr/>
          <p:nvPr/>
        </p:nvSpPr>
        <p:spPr>
          <a:xfrm>
            <a:off x="6949440" y="64008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12"/>
          <p:cNvSpPr/>
          <p:nvPr/>
        </p:nvSpPr>
        <p:spPr>
          <a:xfrm>
            <a:off x="6949440" y="137160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13"/>
          <p:cNvSpPr/>
          <p:nvPr/>
        </p:nvSpPr>
        <p:spPr>
          <a:xfrm>
            <a:off x="6949440" y="210312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14"/>
          <p:cNvSpPr/>
          <p:nvPr/>
        </p:nvSpPr>
        <p:spPr>
          <a:xfrm>
            <a:off x="6949440" y="283464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15"/>
          <p:cNvSpPr/>
          <p:nvPr/>
        </p:nvSpPr>
        <p:spPr>
          <a:xfrm>
            <a:off x="6949440" y="356616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16"/>
          <p:cNvSpPr/>
          <p:nvPr/>
        </p:nvSpPr>
        <p:spPr>
          <a:xfrm>
            <a:off x="6949440" y="429768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17"/>
          <p:cNvSpPr/>
          <p:nvPr/>
        </p:nvSpPr>
        <p:spPr>
          <a:xfrm>
            <a:off x="6949440" y="502920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18"/>
          <p:cNvSpPr/>
          <p:nvPr/>
        </p:nvSpPr>
        <p:spPr>
          <a:xfrm>
            <a:off x="6949440" y="576072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19"/>
          <p:cNvSpPr/>
          <p:nvPr/>
        </p:nvSpPr>
        <p:spPr>
          <a:xfrm>
            <a:off x="255960" y="6455520"/>
            <a:ext cx="41076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8F949A"/>
                </a:solidFill>
                <a:effectLst/>
                <a:uFillTx/>
                <a:latin typeface="IBM Plex Sans"/>
                <a:ea typeface="Aptos"/>
              </a:rPr>
              <a:t>7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20"/>
          <p:cNvSpPr/>
          <p:nvPr/>
        </p:nvSpPr>
        <p:spPr>
          <a:xfrm>
            <a:off x="9829800" y="6455520"/>
            <a:ext cx="20566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8F949A"/>
                </a:solidFill>
                <a:effectLst/>
                <a:uFillTx/>
                <a:latin typeface="IBM Plex Sans"/>
                <a:ea typeface="Aptos"/>
              </a:rPr>
              <a:t>BLOODHOUND-KUBE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21"/>
          <p:cNvSpPr/>
          <p:nvPr/>
        </p:nvSpPr>
        <p:spPr>
          <a:xfrm>
            <a:off x="576000" y="384120"/>
            <a:ext cx="71316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2F3F5"/>
                </a:solidFill>
                <a:effectLst/>
                <a:uFillTx/>
                <a:latin typeface="IBM Plex Sans"/>
                <a:ea typeface="Aptos Display"/>
              </a:rPr>
              <a:t>How to Interpret the Graph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22"/>
          <p:cNvSpPr/>
          <p:nvPr/>
        </p:nvSpPr>
        <p:spPr>
          <a:xfrm>
            <a:off x="576000" y="932400"/>
            <a:ext cx="914400" cy="360"/>
          </a:xfrm>
          <a:prstGeom prst="line">
            <a:avLst/>
          </a:prstGeom>
          <a:ln w="27940">
            <a:solidFill>
              <a:srgbClr val="E539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23"/>
          <p:cNvSpPr/>
          <p:nvPr/>
        </p:nvSpPr>
        <p:spPr>
          <a:xfrm>
            <a:off x="1627560" y="896040"/>
            <a:ext cx="896040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A6AAB0"/>
                </a:solidFill>
                <a:effectLst/>
                <a:uFillTx/>
                <a:latin typeface="IBM Plex Sans"/>
                <a:ea typeface="Aptos"/>
              </a:rPr>
              <a:t>A graph edge is a lead, not a verdict.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24"/>
          <p:cNvSpPr/>
          <p:nvPr/>
        </p:nvSpPr>
        <p:spPr>
          <a:xfrm>
            <a:off x="822960" y="1505160"/>
            <a:ext cx="4708440" cy="401760"/>
          </a:xfrm>
          <a:prstGeom prst="rect">
            <a:avLst/>
          </a:prstGeom>
          <a:solidFill>
            <a:srgbClr val="17191C"/>
          </a:solidFill>
          <a:ln w="12700">
            <a:solidFill>
              <a:srgbClr val="555A60">
                <a:alpha val="8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" tIns="1800" rIns="1800" bIns="180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2F3F5"/>
                </a:solidFill>
                <a:effectLst/>
                <a:uFillTx/>
                <a:latin typeface="IBM Plex Sans"/>
                <a:ea typeface="Aptos"/>
              </a:rPr>
              <a:t> What the graph can tell you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26"/>
          <p:cNvSpPr/>
          <p:nvPr/>
        </p:nvSpPr>
        <p:spPr>
          <a:xfrm>
            <a:off x="795600" y="1965960"/>
            <a:ext cx="4717800" cy="443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u="none" strike="noStrike">
                <a:solidFill>
                  <a:srgbClr val="E53935"/>
                </a:solidFill>
                <a:effectLst/>
                <a:uFillTx/>
                <a:latin typeface="IBM Plex Sans"/>
                <a:ea typeface="Aptos"/>
              </a:rPr>
              <a:t>•</a:t>
            </a:r>
            <a:r>
              <a:rPr lang="en-US" sz="2600" b="0" u="none" strike="noStrike">
                <a:solidFill>
                  <a:srgbClr val="D4D6DA"/>
                </a:solidFill>
                <a:effectLst/>
                <a:uFillTx/>
                <a:latin typeface="IBM Plex Sans"/>
                <a:ea typeface="Aptos"/>
              </a:rPr>
              <a:t>Which objects are connected by relationships.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u="none" strike="noStrike">
                <a:solidFill>
                  <a:srgbClr val="E53935"/>
                </a:solidFill>
                <a:effectLst/>
                <a:uFillTx/>
                <a:latin typeface="IBM Plex Sans"/>
                <a:ea typeface="Aptos"/>
              </a:rPr>
              <a:t>•</a:t>
            </a:r>
            <a:r>
              <a:rPr lang="en-US" sz="2600" b="0" u="none" strike="noStrike">
                <a:solidFill>
                  <a:srgbClr val="D4D6DA"/>
                </a:solidFill>
                <a:effectLst/>
                <a:uFillTx/>
                <a:latin typeface="IBM Plex Sans"/>
                <a:ea typeface="Aptos"/>
              </a:rPr>
              <a:t>Which paths are the most straightforward.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u="none" strike="noStrike">
                <a:solidFill>
                  <a:srgbClr val="E53935"/>
                </a:solidFill>
                <a:effectLst/>
                <a:uFillTx/>
                <a:latin typeface="IBM Plex Sans"/>
                <a:ea typeface="Aptos"/>
              </a:rPr>
              <a:t>•</a:t>
            </a:r>
            <a:r>
              <a:rPr lang="en-US" sz="2600" b="0" u="none" strike="noStrike">
                <a:solidFill>
                  <a:srgbClr val="D4D6DA"/>
                </a:solidFill>
                <a:effectLst/>
                <a:uFillTx/>
                <a:latin typeface="IBM Plex Sans"/>
                <a:ea typeface="Aptos"/>
              </a:rPr>
              <a:t>Which misconfiguration is most relevant to the path.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u="none" strike="noStrike">
                <a:solidFill>
                  <a:srgbClr val="E53935"/>
                </a:solidFill>
                <a:effectLst/>
                <a:uFillTx/>
                <a:latin typeface="IBM Plex Sans"/>
                <a:ea typeface="Aptos"/>
              </a:rPr>
              <a:t>•</a:t>
            </a:r>
            <a:r>
              <a:rPr lang="en-US" sz="2600" b="0" u="none" strike="noStrike">
                <a:solidFill>
                  <a:srgbClr val="D4D6DA"/>
                </a:solidFill>
                <a:effectLst/>
                <a:uFillTx/>
                <a:latin typeface="IBM Plex Sans"/>
                <a:ea typeface="Aptos"/>
              </a:rPr>
              <a:t>Which relationship is likely to lead to an objective.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28"/>
          <p:cNvSpPr/>
          <p:nvPr/>
        </p:nvSpPr>
        <p:spPr>
          <a:xfrm>
            <a:off x="1188720" y="2464200"/>
            <a:ext cx="4159800" cy="47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30"/>
          <p:cNvSpPr/>
          <p:nvPr/>
        </p:nvSpPr>
        <p:spPr>
          <a:xfrm>
            <a:off x="1188720" y="2962800"/>
            <a:ext cx="4159800" cy="47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32"/>
          <p:cNvSpPr/>
          <p:nvPr/>
        </p:nvSpPr>
        <p:spPr>
          <a:xfrm>
            <a:off x="1188720" y="3461040"/>
            <a:ext cx="4159800" cy="47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33"/>
          <p:cNvSpPr/>
          <p:nvPr/>
        </p:nvSpPr>
        <p:spPr>
          <a:xfrm>
            <a:off x="6446520" y="1494000"/>
            <a:ext cx="4708440" cy="401760"/>
          </a:xfrm>
          <a:prstGeom prst="rect">
            <a:avLst/>
          </a:prstGeom>
          <a:solidFill>
            <a:srgbClr val="3A1111"/>
          </a:solidFill>
          <a:ln w="12700">
            <a:solidFill>
              <a:srgbClr val="E53935">
                <a:alpha val="8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" tIns="1800" rIns="1800" bIns="180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2F3F5"/>
                </a:solidFill>
                <a:effectLst/>
                <a:uFillTx/>
                <a:latin typeface="IBM Plex Sans"/>
                <a:ea typeface="Aptos"/>
              </a:rPr>
              <a:t> What still requires tester validation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35"/>
          <p:cNvSpPr/>
          <p:nvPr/>
        </p:nvSpPr>
        <p:spPr>
          <a:xfrm>
            <a:off x="6421320" y="1965960"/>
            <a:ext cx="5176800" cy="442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u="none" strike="noStrike">
                <a:solidFill>
                  <a:srgbClr val="E53935"/>
                </a:solidFill>
                <a:effectLst/>
                <a:uFillTx/>
                <a:latin typeface="IBM Plex Sans"/>
                <a:ea typeface="Aptos"/>
              </a:rPr>
              <a:t>•</a:t>
            </a:r>
            <a:r>
              <a:rPr lang="en-US" sz="2600" b="0" u="none" strike="noStrike">
                <a:solidFill>
                  <a:srgbClr val="D4D6DA"/>
                </a:solidFill>
                <a:effectLst/>
                <a:uFillTx/>
                <a:latin typeface="IBM Plex Sans"/>
                <a:ea typeface="Aptos"/>
              </a:rPr>
              <a:t>Whether the path is exploitable in the specific environment.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u="none" strike="noStrike">
                <a:solidFill>
                  <a:srgbClr val="E53935"/>
                </a:solidFill>
                <a:effectLst/>
                <a:uFillTx/>
                <a:latin typeface="IBM Plex Sans"/>
                <a:ea typeface="Aptos"/>
              </a:rPr>
              <a:t>•</a:t>
            </a:r>
            <a:r>
              <a:rPr lang="en-US" sz="2600" b="0" u="none" strike="noStrike">
                <a:solidFill>
                  <a:srgbClr val="D4D6DA"/>
                </a:solidFill>
                <a:effectLst/>
                <a:uFillTx/>
                <a:latin typeface="IBM Plex Sans"/>
                <a:ea typeface="Aptos"/>
              </a:rPr>
              <a:t>Whether compensating controls block the chain.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u="none" strike="noStrike">
                <a:solidFill>
                  <a:srgbClr val="E53935"/>
                </a:solidFill>
                <a:effectLst/>
                <a:uFillTx/>
                <a:latin typeface="IBM Plex Sans"/>
                <a:ea typeface="Aptos"/>
              </a:rPr>
              <a:t>•</a:t>
            </a:r>
            <a:r>
              <a:rPr lang="en-US" sz="2600" b="0" u="none" strike="noStrike">
                <a:solidFill>
                  <a:srgbClr val="D4D6DA"/>
                </a:solidFill>
                <a:effectLst/>
                <a:uFillTx/>
                <a:latin typeface="IBM Plex Sans"/>
                <a:ea typeface="Aptos"/>
              </a:rPr>
              <a:t>Whether captured credentials are valid and in scope.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u="none" strike="noStrike">
                <a:solidFill>
                  <a:srgbClr val="E53935"/>
                </a:solidFill>
                <a:effectLst/>
                <a:uFillTx/>
                <a:latin typeface="IBM Plex Sans"/>
                <a:ea typeface="Aptos"/>
              </a:rPr>
              <a:t>•</a:t>
            </a:r>
            <a:r>
              <a:rPr lang="en-US" sz="2600" b="0" u="none" strike="noStrike">
                <a:solidFill>
                  <a:srgbClr val="D4D6DA"/>
                </a:solidFill>
                <a:effectLst/>
                <a:uFillTx/>
                <a:latin typeface="IBM Plex Sans"/>
                <a:ea typeface="Aptos"/>
              </a:rPr>
              <a:t>Whether the path creates meaningful business impact.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39"/>
          <p:cNvSpPr/>
          <p:nvPr/>
        </p:nvSpPr>
        <p:spPr>
          <a:xfrm>
            <a:off x="6812280" y="2962800"/>
            <a:ext cx="4159800" cy="47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41"/>
          <p:cNvSpPr/>
          <p:nvPr/>
        </p:nvSpPr>
        <p:spPr>
          <a:xfrm>
            <a:off x="6812280" y="3461040"/>
            <a:ext cx="4159800" cy="47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Shape 0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Shape 1"/>
          <p:cNvSpPr/>
          <p:nvPr/>
        </p:nvSpPr>
        <p:spPr>
          <a:xfrm>
            <a:off x="18360" y="18360"/>
            <a:ext cx="12154320" cy="6820560"/>
          </a:xfrm>
          <a:prstGeom prst="rect">
            <a:avLst/>
          </a:prstGeom>
          <a:noFill/>
          <a:ln w="15240">
            <a:solidFill>
              <a:srgbClr val="1E2024">
                <a:alpha val="9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2"/>
          <p:cNvSpPr/>
          <p:nvPr/>
        </p:nvSpPr>
        <p:spPr>
          <a:xfrm flipH="1">
            <a:off x="438912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3"/>
          <p:cNvSpPr/>
          <p:nvPr/>
        </p:nvSpPr>
        <p:spPr>
          <a:xfrm flipH="1">
            <a:off x="498348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4"/>
          <p:cNvSpPr/>
          <p:nvPr/>
        </p:nvSpPr>
        <p:spPr>
          <a:xfrm flipH="1">
            <a:off x="557784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5"/>
          <p:cNvSpPr/>
          <p:nvPr/>
        </p:nvSpPr>
        <p:spPr>
          <a:xfrm flipH="1">
            <a:off x="617220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6"/>
          <p:cNvSpPr/>
          <p:nvPr/>
        </p:nvSpPr>
        <p:spPr>
          <a:xfrm flipH="1">
            <a:off x="676656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Shape 7"/>
          <p:cNvSpPr/>
          <p:nvPr/>
        </p:nvSpPr>
        <p:spPr>
          <a:xfrm flipH="1">
            <a:off x="736092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8"/>
          <p:cNvSpPr/>
          <p:nvPr/>
        </p:nvSpPr>
        <p:spPr>
          <a:xfrm flipH="1">
            <a:off x="795528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9"/>
          <p:cNvSpPr/>
          <p:nvPr/>
        </p:nvSpPr>
        <p:spPr>
          <a:xfrm flipH="1">
            <a:off x="854964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10"/>
          <p:cNvSpPr/>
          <p:nvPr/>
        </p:nvSpPr>
        <p:spPr>
          <a:xfrm flipH="1">
            <a:off x="914400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11"/>
          <p:cNvSpPr/>
          <p:nvPr/>
        </p:nvSpPr>
        <p:spPr>
          <a:xfrm>
            <a:off x="6949440" y="64008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12"/>
          <p:cNvSpPr/>
          <p:nvPr/>
        </p:nvSpPr>
        <p:spPr>
          <a:xfrm>
            <a:off x="6949440" y="137160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13"/>
          <p:cNvSpPr/>
          <p:nvPr/>
        </p:nvSpPr>
        <p:spPr>
          <a:xfrm>
            <a:off x="6949440" y="210312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14"/>
          <p:cNvSpPr/>
          <p:nvPr/>
        </p:nvSpPr>
        <p:spPr>
          <a:xfrm>
            <a:off x="6949440" y="283464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15"/>
          <p:cNvSpPr/>
          <p:nvPr/>
        </p:nvSpPr>
        <p:spPr>
          <a:xfrm>
            <a:off x="6949440" y="356616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16"/>
          <p:cNvSpPr/>
          <p:nvPr/>
        </p:nvSpPr>
        <p:spPr>
          <a:xfrm>
            <a:off x="6949440" y="429768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17"/>
          <p:cNvSpPr/>
          <p:nvPr/>
        </p:nvSpPr>
        <p:spPr>
          <a:xfrm>
            <a:off x="6949440" y="502920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18"/>
          <p:cNvSpPr/>
          <p:nvPr/>
        </p:nvSpPr>
        <p:spPr>
          <a:xfrm>
            <a:off x="6949440" y="576072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19"/>
          <p:cNvSpPr/>
          <p:nvPr/>
        </p:nvSpPr>
        <p:spPr>
          <a:xfrm>
            <a:off x="255960" y="6455520"/>
            <a:ext cx="41076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8F949A"/>
                </a:solidFill>
                <a:effectLst/>
                <a:uFillTx/>
                <a:latin typeface="IBM Plex Sans"/>
                <a:ea typeface="Aptos"/>
              </a:rPr>
              <a:t>8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20"/>
          <p:cNvSpPr/>
          <p:nvPr/>
        </p:nvSpPr>
        <p:spPr>
          <a:xfrm>
            <a:off x="9829800" y="6455520"/>
            <a:ext cx="20566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8F949A"/>
                </a:solidFill>
                <a:effectLst/>
                <a:uFillTx/>
                <a:latin typeface="IBM Plex Sans"/>
                <a:ea typeface="Aptos"/>
              </a:rPr>
              <a:t>BLOODHOUND-KUBE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21"/>
          <p:cNvSpPr/>
          <p:nvPr/>
        </p:nvSpPr>
        <p:spPr>
          <a:xfrm>
            <a:off x="749880" y="1143000"/>
            <a:ext cx="36568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2F3F5"/>
                </a:solidFill>
                <a:effectLst/>
                <a:uFillTx/>
                <a:latin typeface="IBM Plex Sans"/>
                <a:ea typeface="Aptos Display"/>
              </a:rPr>
              <a:t>Questions?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22"/>
          <p:cNvSpPr/>
          <p:nvPr/>
        </p:nvSpPr>
        <p:spPr>
          <a:xfrm>
            <a:off x="822960" y="2148840"/>
            <a:ext cx="365040" cy="365040"/>
          </a:xfrm>
          <a:prstGeom prst="ellipse">
            <a:avLst/>
          </a:prstGeom>
          <a:solidFill>
            <a:srgbClr val="17191C"/>
          </a:solidFill>
          <a:ln w="15240">
            <a:solidFill>
              <a:srgbClr val="555A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2F3F5"/>
                </a:solidFill>
                <a:effectLst/>
                <a:uFillTx/>
                <a:latin typeface="IBM Plex Sans"/>
                <a:ea typeface="Aptos"/>
              </a:rPr>
              <a:t>1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23"/>
          <p:cNvSpPr/>
          <p:nvPr/>
        </p:nvSpPr>
        <p:spPr>
          <a:xfrm>
            <a:off x="1417320" y="2139840"/>
            <a:ext cx="576000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4D6DA"/>
                </a:solidFill>
                <a:effectLst/>
                <a:uFillTx/>
                <a:latin typeface="IBM Plex Sans"/>
                <a:ea typeface="Aptos"/>
              </a:rPr>
              <a:t>Kubernetes authorization is a graph problem.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24"/>
          <p:cNvSpPr/>
          <p:nvPr/>
        </p:nvSpPr>
        <p:spPr>
          <a:xfrm>
            <a:off x="822960" y="2807280"/>
            <a:ext cx="365040" cy="365040"/>
          </a:xfrm>
          <a:prstGeom prst="ellipse">
            <a:avLst/>
          </a:prstGeom>
          <a:solidFill>
            <a:srgbClr val="3A1111"/>
          </a:solidFill>
          <a:ln w="15240">
            <a:solidFill>
              <a:srgbClr val="E539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2F3F5"/>
                </a:solidFill>
                <a:effectLst/>
                <a:uFillTx/>
                <a:latin typeface="IBM Plex Sans"/>
                <a:ea typeface="Aptos"/>
              </a:rPr>
              <a:t>2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25"/>
          <p:cNvSpPr/>
          <p:nvPr/>
        </p:nvSpPr>
        <p:spPr>
          <a:xfrm>
            <a:off x="1417320" y="2797920"/>
            <a:ext cx="576000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4D6DA"/>
                </a:solidFill>
                <a:effectLst/>
                <a:uFillTx/>
                <a:latin typeface="IBM Plex Sans"/>
                <a:ea typeface="Aptos"/>
              </a:rPr>
              <a:t>BloodHound-Kube turns cluster state into OpenGraph data.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26"/>
          <p:cNvSpPr/>
          <p:nvPr/>
        </p:nvSpPr>
        <p:spPr>
          <a:xfrm>
            <a:off x="822960" y="3465720"/>
            <a:ext cx="365040" cy="365040"/>
          </a:xfrm>
          <a:prstGeom prst="ellipse">
            <a:avLst/>
          </a:prstGeom>
          <a:solidFill>
            <a:srgbClr val="17191C"/>
          </a:solidFill>
          <a:ln w="15240">
            <a:solidFill>
              <a:srgbClr val="555A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2F3F5"/>
                </a:solidFill>
                <a:effectLst/>
                <a:uFillTx/>
                <a:latin typeface="IBM Plex Sans"/>
                <a:ea typeface="Aptos"/>
              </a:rPr>
              <a:t>3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27"/>
          <p:cNvSpPr/>
          <p:nvPr/>
        </p:nvSpPr>
        <p:spPr>
          <a:xfrm>
            <a:off x="1417320" y="3456360"/>
            <a:ext cx="576000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4D6DA"/>
                </a:solidFill>
                <a:effectLst/>
                <a:uFillTx/>
                <a:latin typeface="IBM Plex Sans"/>
                <a:ea typeface="Aptos"/>
              </a:rPr>
              <a:t>Better visibility leads to better, faster, more accuratetesting 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Shape 29"/>
          <p:cNvSpPr/>
          <p:nvPr/>
        </p:nvSpPr>
        <p:spPr>
          <a:xfrm>
            <a:off x="861480" y="4312800"/>
            <a:ext cx="10501200" cy="1716120"/>
          </a:xfrm>
          <a:prstGeom prst="roundRect">
            <a:avLst>
              <a:gd name="adj" fmla="val 7317"/>
            </a:avLst>
          </a:prstGeom>
          <a:solidFill>
            <a:srgbClr val="070809"/>
          </a:solidFill>
          <a:ln w="12700">
            <a:solidFill>
              <a:srgbClr val="555A60">
                <a:alpha val="8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30"/>
          <p:cNvSpPr/>
          <p:nvPr/>
        </p:nvSpPr>
        <p:spPr>
          <a:xfrm>
            <a:off x="1038600" y="4400280"/>
            <a:ext cx="10111320" cy="61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E7E7E7"/>
                </a:solidFill>
                <a:effectLst/>
                <a:uFillTx/>
                <a:latin typeface="IBM Plex Sans"/>
                <a:ea typeface="DejaVu Sans Mono"/>
              </a:rPr>
              <a:t>github.com/HackinAhab/bloodhound-kube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31"/>
          <p:cNvSpPr/>
          <p:nvPr/>
        </p:nvSpPr>
        <p:spPr>
          <a:xfrm>
            <a:off x="1038600" y="5020200"/>
            <a:ext cx="7836480" cy="4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E7E7E7"/>
                </a:solidFill>
                <a:effectLst/>
                <a:uFillTx/>
                <a:latin typeface="IBM Plex Sans"/>
                <a:ea typeface="DejaVu Sans Mono"/>
              </a:rPr>
              <a:t>Open source  |  Contributions and field feedback welcome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44" name=""/>
          <p:cNvPicPr/>
          <p:nvPr/>
        </p:nvPicPr>
        <p:blipFill>
          <a:blip r:embed="rId1"/>
          <a:stretch/>
        </p:blipFill>
        <p:spPr>
          <a:xfrm>
            <a:off x="7653960" y="640080"/>
            <a:ext cx="3417480" cy="3417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Shape 19"/>
          <p:cNvSpPr/>
          <p:nvPr/>
        </p:nvSpPr>
        <p:spPr>
          <a:xfrm>
            <a:off x="0" y="-11160"/>
            <a:ext cx="12191040" cy="6857280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Shape 61"/>
          <p:cNvSpPr/>
          <p:nvPr/>
        </p:nvSpPr>
        <p:spPr>
          <a:xfrm>
            <a:off x="18360" y="18360"/>
            <a:ext cx="12154320" cy="6820560"/>
          </a:xfrm>
          <a:prstGeom prst="rect">
            <a:avLst/>
          </a:prstGeom>
          <a:noFill/>
          <a:ln w="15240">
            <a:solidFill>
              <a:srgbClr val="1E2024">
                <a:alpha val="9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Shape 62"/>
          <p:cNvSpPr/>
          <p:nvPr/>
        </p:nvSpPr>
        <p:spPr>
          <a:xfrm flipH="1">
            <a:off x="438912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Shape 63"/>
          <p:cNvSpPr/>
          <p:nvPr/>
        </p:nvSpPr>
        <p:spPr>
          <a:xfrm flipH="1">
            <a:off x="498348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64"/>
          <p:cNvSpPr/>
          <p:nvPr/>
        </p:nvSpPr>
        <p:spPr>
          <a:xfrm flipH="1">
            <a:off x="557784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65"/>
          <p:cNvSpPr/>
          <p:nvPr/>
        </p:nvSpPr>
        <p:spPr>
          <a:xfrm flipH="1">
            <a:off x="617220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Shape 66"/>
          <p:cNvSpPr/>
          <p:nvPr/>
        </p:nvSpPr>
        <p:spPr>
          <a:xfrm flipH="1">
            <a:off x="676656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Shape 67"/>
          <p:cNvSpPr/>
          <p:nvPr/>
        </p:nvSpPr>
        <p:spPr>
          <a:xfrm flipH="1">
            <a:off x="736092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Shape 68"/>
          <p:cNvSpPr/>
          <p:nvPr/>
        </p:nvSpPr>
        <p:spPr>
          <a:xfrm flipH="1">
            <a:off x="795528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Shape 69"/>
          <p:cNvSpPr/>
          <p:nvPr/>
        </p:nvSpPr>
        <p:spPr>
          <a:xfrm flipH="1">
            <a:off x="854964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Shape 70"/>
          <p:cNvSpPr/>
          <p:nvPr/>
        </p:nvSpPr>
        <p:spPr>
          <a:xfrm flipH="1">
            <a:off x="9144000" y="228600"/>
            <a:ext cx="2926080" cy="6309360"/>
          </a:xfrm>
          <a:prstGeom prst="line">
            <a:avLst/>
          </a:prstGeom>
          <a:ln w="6350">
            <a:solidFill>
              <a:srgbClr val="22262A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Shape 71"/>
          <p:cNvSpPr/>
          <p:nvPr/>
        </p:nvSpPr>
        <p:spPr>
          <a:xfrm>
            <a:off x="6949440" y="64008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Shape 72"/>
          <p:cNvSpPr/>
          <p:nvPr/>
        </p:nvSpPr>
        <p:spPr>
          <a:xfrm>
            <a:off x="6949440" y="137160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73"/>
          <p:cNvSpPr/>
          <p:nvPr/>
        </p:nvSpPr>
        <p:spPr>
          <a:xfrm>
            <a:off x="6949440" y="210312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74"/>
          <p:cNvSpPr/>
          <p:nvPr/>
        </p:nvSpPr>
        <p:spPr>
          <a:xfrm>
            <a:off x="6949440" y="283464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Shape 75"/>
          <p:cNvSpPr/>
          <p:nvPr/>
        </p:nvSpPr>
        <p:spPr>
          <a:xfrm>
            <a:off x="6949440" y="356616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Shape 76"/>
          <p:cNvSpPr/>
          <p:nvPr/>
        </p:nvSpPr>
        <p:spPr>
          <a:xfrm>
            <a:off x="6949440" y="429768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77"/>
          <p:cNvSpPr/>
          <p:nvPr/>
        </p:nvSpPr>
        <p:spPr>
          <a:xfrm>
            <a:off x="6949440" y="502920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Shape 78"/>
          <p:cNvSpPr/>
          <p:nvPr/>
        </p:nvSpPr>
        <p:spPr>
          <a:xfrm>
            <a:off x="6949440" y="5760720"/>
            <a:ext cx="4937760" cy="45720"/>
          </a:xfrm>
          <a:prstGeom prst="line">
            <a:avLst/>
          </a:prstGeom>
          <a:ln w="4445">
            <a:solidFill>
              <a:srgbClr val="22262A">
                <a:alpha val="2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7"/>
          <p:cNvSpPr/>
          <p:nvPr/>
        </p:nvSpPr>
        <p:spPr>
          <a:xfrm>
            <a:off x="255960" y="6455520"/>
            <a:ext cx="41076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8F949A"/>
                </a:solidFill>
                <a:effectLst/>
                <a:uFillTx/>
                <a:latin typeface="IBM Plex Sans"/>
                <a:ea typeface="Aptos"/>
              </a:rPr>
              <a:t>06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8"/>
          <p:cNvSpPr/>
          <p:nvPr/>
        </p:nvSpPr>
        <p:spPr>
          <a:xfrm>
            <a:off x="9829800" y="6455520"/>
            <a:ext cx="20566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0" u="none" strike="noStrike">
                <a:solidFill>
                  <a:srgbClr val="8F949A"/>
                </a:solidFill>
                <a:effectLst/>
                <a:uFillTx/>
                <a:latin typeface="IBM Plex Sans"/>
                <a:ea typeface="Aptos"/>
              </a:rPr>
              <a:t>BLOODHOUND-KUBE</a:t>
            </a:r>
            <a:endParaRPr lang="en-US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9"/>
          <p:cNvSpPr/>
          <p:nvPr/>
        </p:nvSpPr>
        <p:spPr>
          <a:xfrm>
            <a:off x="576000" y="384120"/>
            <a:ext cx="71316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2F3F5"/>
                </a:solidFill>
                <a:effectLst/>
                <a:uFillTx/>
                <a:latin typeface="IBM Plex Sans"/>
                <a:ea typeface="Aptos Display"/>
              </a:rPr>
              <a:t>PlaceHolder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79"/>
          <p:cNvSpPr/>
          <p:nvPr/>
        </p:nvSpPr>
        <p:spPr>
          <a:xfrm>
            <a:off x="576000" y="932400"/>
            <a:ext cx="914400" cy="360"/>
          </a:xfrm>
          <a:prstGeom prst="line">
            <a:avLst/>
          </a:prstGeom>
          <a:ln w="27940">
            <a:solidFill>
              <a:srgbClr val="E539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11"/>
          <p:cNvSpPr/>
          <p:nvPr/>
        </p:nvSpPr>
        <p:spPr>
          <a:xfrm>
            <a:off x="1627560" y="896040"/>
            <a:ext cx="896040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A6AAB0"/>
                </a:solidFill>
                <a:effectLst/>
                <a:uFillTx/>
                <a:latin typeface="IBM Plex Sans"/>
                <a:ea typeface="Aptos"/>
              </a:rPr>
              <a:t>Keep the live demo narrow: one environment, one path, one clear conclusion.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BM Plex Sans" pitchFamily="0" charset="1"/>
        <a:ea typeface=""/>
        <a:cs typeface=""/>
      </a:majorFont>
      <a:minorFont>
        <a:latin typeface="IBM Plex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</TotalTime>
  <Application>LibreOffice/26.2.6.1$Linux_X86_64 LibreOffice_project/620$Build-1</Application>
  <AppVersion>15.0000</AppVersion>
  <Words>0</Words>
  <Paragraphs>0</Paragraphs>
  <Company>HackinAhab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2026-09-16T12:58:13Z</dcterms:created>
  <dc:creator>HackinAhab / OpenAI</dc:creator>
  <dc:description/>
  <dc:language>en-US</dc:language>
  <cp:lastModifiedBy/>
  <dcterms:modified xsi:type="dcterms:W3CDTF">2026-09-28T21:12:52Z</dcterms:modified>
  <cp:revision>6</cp:revision>
  <dc:subject>BloodHound-Kube conference demo deck</dc:subject>
  <dc:title>BloodHound-Kube: Kubernetes Attack Path Analysis with BloodHound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16</vt:i4>
  </property>
  <property fmtid="{D5CDD505-2E9C-101B-9397-08002B2CF9AE}" pid="3" name="PresentationFormat">
    <vt:lpwstr>On-screen Show (16:9)</vt:lpwstr>
  </property>
  <property fmtid="{D5CDD505-2E9C-101B-9397-08002B2CF9AE}" pid="4" name="Slides">
    <vt:i4>16</vt:i4>
  </property>
</Properties>
</file>